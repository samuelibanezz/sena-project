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9" r:id="rId2"/>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2442"/>
    <a:srgbClr val="5BA647"/>
    <a:srgbClr val="DFDFD7"/>
    <a:srgbClr val="531705"/>
    <a:srgbClr val="794B3D"/>
    <a:srgbClr val="B20F18"/>
    <a:srgbClr val="E34900"/>
    <a:srgbClr val="F2F2F2"/>
    <a:srgbClr val="25252D"/>
    <a:srgbClr val="F2F2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4C1A8A3-306A-4EB7-A6B1-4F7E0EB9C5D6}" styleName="中度样式 3 - 强调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6247" autoAdjust="0"/>
  </p:normalViewPr>
  <p:slideViewPr>
    <p:cSldViewPr snapToGrid="0">
      <p:cViewPr>
        <p:scale>
          <a:sx n="125" d="100"/>
          <a:sy n="125" d="100"/>
        </p:scale>
        <p:origin x="-14394" y="-277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6"/>
            <a:ext cx="25733931" cy="14902051"/>
          </a:xfrm>
        </p:spPr>
        <p:txBody>
          <a:bodyPr anchor="b"/>
          <a:lstStyle>
            <a:lvl1pPr algn="ctr">
              <a:defRPr sz="19865"/>
            </a:lvl1pPr>
          </a:lstStyle>
          <a:p>
            <a:r>
              <a:rPr lang="en-US"/>
              <a:t>Click to edit Master title style</a:t>
            </a:r>
            <a:endParaRPr lang="en-US" dirty="0"/>
          </a:p>
        </p:txBody>
      </p:sp>
      <p:sp>
        <p:nvSpPr>
          <p:cNvPr id="3" name="Subtitle 2"/>
          <p:cNvSpPr>
            <a:spLocks noGrp="1"/>
          </p:cNvSpPr>
          <p:nvPr>
            <p:ph type="subTitle" idx="1"/>
          </p:nvPr>
        </p:nvSpPr>
        <p:spPr>
          <a:xfrm>
            <a:off x="3784402" y="22481887"/>
            <a:ext cx="22706410" cy="10334331"/>
          </a:xfrm>
        </p:spPr>
        <p:txBody>
          <a:bodyPr/>
          <a:lstStyle>
            <a:lvl1pPr marL="0" indent="0" algn="ctr">
              <a:buNone/>
              <a:defRPr sz="7945"/>
            </a:lvl1pPr>
            <a:lvl2pPr marL="1513840" indent="0" algn="ctr">
              <a:buNone/>
              <a:defRPr sz="6620"/>
            </a:lvl2pPr>
            <a:lvl3pPr marL="3027680" indent="0" algn="ctr">
              <a:buNone/>
              <a:defRPr sz="5960"/>
            </a:lvl3pPr>
            <a:lvl4pPr marL="4541520" indent="0" algn="ctr">
              <a:buNone/>
              <a:defRPr sz="5295"/>
            </a:lvl4pPr>
            <a:lvl5pPr marL="6054725" indent="0" algn="ctr">
              <a:buNone/>
              <a:defRPr sz="5295"/>
            </a:lvl5pPr>
            <a:lvl6pPr marL="7568565" indent="0" algn="ctr">
              <a:buNone/>
              <a:defRPr sz="5295"/>
            </a:lvl6pPr>
            <a:lvl7pPr marL="9082405" indent="0" algn="ctr">
              <a:buNone/>
              <a:defRPr sz="5295"/>
            </a:lvl7pPr>
            <a:lvl8pPr marL="10596245" indent="0" algn="ctr">
              <a:buNone/>
              <a:defRPr sz="5295"/>
            </a:lvl8pPr>
            <a:lvl9pPr marL="12110085" indent="0" algn="ctr">
              <a:buNone/>
              <a:defRPr sz="5295"/>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F5C902B-C0C3-451E-AFC5-AC74DB77EEDF}"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8C40AA3-C2E7-4033-9EED-4D28BC0693B2}" type="slidenum">
              <a:rPr lang="en-GB" smtClean="0"/>
              <a:t>‹Nº›</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5C902B-C0C3-451E-AFC5-AC74DB77EEDF}"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8C40AA3-C2E7-4033-9EED-4D28BC0693B2}" type="slidenum">
              <a:rPr lang="en-GB" smtClean="0"/>
              <a:t>‹Nº›</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29"/>
            <a:ext cx="26112371" cy="17805173"/>
          </a:xfrm>
        </p:spPr>
        <p:txBody>
          <a:bodyPr anchor="b"/>
          <a:lstStyle>
            <a:lvl1pPr>
              <a:defRPr sz="19865"/>
            </a:lvl1pPr>
          </a:lstStyle>
          <a:p>
            <a:r>
              <a:rPr lang="en-US"/>
              <a:t>Click to edit Master title style</a:t>
            </a:r>
            <a:endParaRPr lang="en-US" dirty="0"/>
          </a:p>
        </p:txBody>
      </p:sp>
      <p:sp>
        <p:nvSpPr>
          <p:cNvPr id="3" name="Text Placeholder 2"/>
          <p:cNvSpPr>
            <a:spLocks noGrp="1"/>
          </p:cNvSpPr>
          <p:nvPr>
            <p:ph type="body" idx="1"/>
          </p:nvPr>
        </p:nvSpPr>
        <p:spPr>
          <a:xfrm>
            <a:off x="2065654" y="28644846"/>
            <a:ext cx="26112371" cy="9363320"/>
          </a:xfrm>
        </p:spPr>
        <p:txBody>
          <a:bodyPr/>
          <a:lstStyle>
            <a:lvl1pPr marL="0" indent="0">
              <a:buNone/>
              <a:defRPr sz="7945">
                <a:solidFill>
                  <a:schemeClr val="tx1"/>
                </a:solidFill>
              </a:defRPr>
            </a:lvl1pPr>
            <a:lvl2pPr marL="1513840" indent="0">
              <a:buNone/>
              <a:defRPr sz="6620">
                <a:solidFill>
                  <a:schemeClr val="tx1">
                    <a:tint val="75000"/>
                  </a:schemeClr>
                </a:solidFill>
              </a:defRPr>
            </a:lvl2pPr>
            <a:lvl3pPr marL="3027680" indent="0">
              <a:buNone/>
              <a:defRPr sz="5960">
                <a:solidFill>
                  <a:schemeClr val="tx1">
                    <a:tint val="75000"/>
                  </a:schemeClr>
                </a:solidFill>
              </a:defRPr>
            </a:lvl3pPr>
            <a:lvl4pPr marL="4541520" indent="0">
              <a:buNone/>
              <a:defRPr sz="5295">
                <a:solidFill>
                  <a:schemeClr val="tx1">
                    <a:tint val="75000"/>
                  </a:schemeClr>
                </a:solidFill>
              </a:defRPr>
            </a:lvl4pPr>
            <a:lvl5pPr marL="6054725" indent="0">
              <a:buNone/>
              <a:defRPr sz="5295">
                <a:solidFill>
                  <a:schemeClr val="tx1">
                    <a:tint val="75000"/>
                  </a:schemeClr>
                </a:solidFill>
              </a:defRPr>
            </a:lvl5pPr>
            <a:lvl6pPr marL="7568565" indent="0">
              <a:buNone/>
              <a:defRPr sz="5295">
                <a:solidFill>
                  <a:schemeClr val="tx1">
                    <a:tint val="75000"/>
                  </a:schemeClr>
                </a:solidFill>
              </a:defRPr>
            </a:lvl6pPr>
            <a:lvl7pPr marL="9082405" indent="0">
              <a:buNone/>
              <a:defRPr sz="5295">
                <a:solidFill>
                  <a:schemeClr val="tx1">
                    <a:tint val="75000"/>
                  </a:schemeClr>
                </a:solidFill>
              </a:defRPr>
            </a:lvl7pPr>
            <a:lvl8pPr marL="10596245" indent="0">
              <a:buNone/>
              <a:defRPr sz="5295">
                <a:solidFill>
                  <a:schemeClr val="tx1">
                    <a:tint val="75000"/>
                  </a:schemeClr>
                </a:solidFill>
              </a:defRPr>
            </a:lvl8pPr>
            <a:lvl9pPr marL="12110085" indent="0">
              <a:buNone/>
              <a:defRPr sz="529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5C902B-C0C3-451E-AFC5-AC74DB77EEDF}"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8C40AA3-C2E7-4033-9EED-4D28BC0693B2}" type="slidenum">
              <a:rPr lang="en-GB" smtClean="0"/>
              <a:t>‹Nº›</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81421" y="11394520"/>
            <a:ext cx="12866966" cy="27158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326826" y="11394520"/>
            <a:ext cx="12866966" cy="27158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F5C902B-C0C3-451E-AFC5-AC74DB77EEDF}" type="datetimeFigureOut">
              <a:rPr lang="en-GB" smtClean="0"/>
              <a:t>16/09/2026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8C40AA3-C2E7-4033-9EED-4D28BC0693B2}" type="slidenum">
              <a:rPr lang="en-GB" smtClean="0"/>
              <a:t>‹Nº›</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913"/>
            <a:ext cx="26112371" cy="82734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5368" y="10492870"/>
            <a:ext cx="12807832" cy="5142393"/>
          </a:xfrm>
        </p:spPr>
        <p:txBody>
          <a:bodyPr anchor="b"/>
          <a:lstStyle>
            <a:lvl1pPr marL="0" indent="0">
              <a:buNone/>
              <a:defRPr sz="7945" b="1"/>
            </a:lvl1pPr>
            <a:lvl2pPr marL="1513840" indent="0">
              <a:buNone/>
              <a:defRPr sz="6620" b="1"/>
            </a:lvl2pPr>
            <a:lvl3pPr marL="3027680" indent="0">
              <a:buNone/>
              <a:defRPr sz="5960" b="1"/>
            </a:lvl3pPr>
            <a:lvl4pPr marL="4541520" indent="0">
              <a:buNone/>
              <a:defRPr sz="5295" b="1"/>
            </a:lvl4pPr>
            <a:lvl5pPr marL="6054725" indent="0">
              <a:buNone/>
              <a:defRPr sz="5295" b="1"/>
            </a:lvl5pPr>
            <a:lvl6pPr marL="7568565" indent="0">
              <a:buNone/>
              <a:defRPr sz="5295" b="1"/>
            </a:lvl6pPr>
            <a:lvl7pPr marL="9082405" indent="0">
              <a:buNone/>
              <a:defRPr sz="5295" b="1"/>
            </a:lvl7pPr>
            <a:lvl8pPr marL="10596245" indent="0">
              <a:buNone/>
              <a:defRPr sz="5295" b="1"/>
            </a:lvl8pPr>
            <a:lvl9pPr marL="12110085" indent="0">
              <a:buNone/>
              <a:defRPr sz="5295" b="1"/>
            </a:lvl9pPr>
          </a:lstStyle>
          <a:p>
            <a:pPr lvl="0"/>
            <a:r>
              <a:rPr lang="en-US"/>
              <a:t>Click to edit Master text styles</a:t>
            </a:r>
          </a:p>
        </p:txBody>
      </p:sp>
      <p:sp>
        <p:nvSpPr>
          <p:cNvPr id="4" name="Content Placeholder 3"/>
          <p:cNvSpPr>
            <a:spLocks noGrp="1"/>
          </p:cNvSpPr>
          <p:nvPr>
            <p:ph sz="half" idx="2"/>
          </p:nvPr>
        </p:nvSpPr>
        <p:spPr>
          <a:xfrm>
            <a:off x="2085368" y="15635264"/>
            <a:ext cx="12807832" cy="22997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326828" y="10492870"/>
            <a:ext cx="12870909" cy="5142393"/>
          </a:xfrm>
        </p:spPr>
        <p:txBody>
          <a:bodyPr anchor="b"/>
          <a:lstStyle>
            <a:lvl1pPr marL="0" indent="0">
              <a:buNone/>
              <a:defRPr sz="7945" b="1"/>
            </a:lvl1pPr>
            <a:lvl2pPr marL="1513840" indent="0">
              <a:buNone/>
              <a:defRPr sz="6620" b="1"/>
            </a:lvl2pPr>
            <a:lvl3pPr marL="3027680" indent="0">
              <a:buNone/>
              <a:defRPr sz="5960" b="1"/>
            </a:lvl3pPr>
            <a:lvl4pPr marL="4541520" indent="0">
              <a:buNone/>
              <a:defRPr sz="5295" b="1"/>
            </a:lvl4pPr>
            <a:lvl5pPr marL="6054725" indent="0">
              <a:buNone/>
              <a:defRPr sz="5295" b="1"/>
            </a:lvl5pPr>
            <a:lvl6pPr marL="7568565" indent="0">
              <a:buNone/>
              <a:defRPr sz="5295" b="1"/>
            </a:lvl6pPr>
            <a:lvl7pPr marL="9082405" indent="0">
              <a:buNone/>
              <a:defRPr sz="5295" b="1"/>
            </a:lvl7pPr>
            <a:lvl8pPr marL="10596245" indent="0">
              <a:buNone/>
              <a:defRPr sz="5295" b="1"/>
            </a:lvl8pPr>
            <a:lvl9pPr marL="12110085" indent="0">
              <a:buNone/>
              <a:defRPr sz="5295" b="1"/>
            </a:lvl9pPr>
          </a:lstStyle>
          <a:p>
            <a:pPr lvl="0"/>
            <a:r>
              <a:rPr lang="en-US"/>
              <a:t>Click to edit Master text styles</a:t>
            </a:r>
          </a:p>
        </p:txBody>
      </p:sp>
      <p:sp>
        <p:nvSpPr>
          <p:cNvPr id="6" name="Content Placeholder 5"/>
          <p:cNvSpPr>
            <a:spLocks noGrp="1"/>
          </p:cNvSpPr>
          <p:nvPr>
            <p:ph sz="quarter" idx="4"/>
          </p:nvPr>
        </p:nvSpPr>
        <p:spPr>
          <a:xfrm>
            <a:off x="15326828" y="15635264"/>
            <a:ext cx="12870909" cy="22997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F5C902B-C0C3-451E-AFC5-AC74DB77EEDF}" type="datetimeFigureOut">
              <a:rPr lang="en-GB" smtClean="0"/>
              <a:t>16/09/2026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8C40AA3-C2E7-4033-9EED-4D28BC0693B2}" type="slidenum">
              <a:rPr lang="en-GB" smtClean="0"/>
              <a:t>‹Nº›</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F5C902B-C0C3-451E-AFC5-AC74DB77EEDF}" type="datetimeFigureOut">
              <a:rPr lang="en-GB" smtClean="0"/>
              <a:t>16/09/2026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8C40AA3-C2E7-4033-9EED-4D28BC0693B2}" type="slidenum">
              <a:rPr lang="en-GB" smtClean="0"/>
              <a:t>‹Nº›</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5C902B-C0C3-451E-AFC5-AC74DB77EEDF}" type="datetimeFigureOut">
              <a:rPr lang="en-GB" smtClean="0"/>
              <a:t>16/09/2026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8C40AA3-C2E7-4033-9EED-4D28BC0693B2}" type="slidenum">
              <a:rPr lang="en-GB" smtClean="0"/>
              <a:t>‹Nº›</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Content Placeholder 2"/>
          <p:cNvSpPr>
            <a:spLocks noGrp="1"/>
          </p:cNvSpPr>
          <p:nvPr>
            <p:ph idx="1"/>
          </p:nvPr>
        </p:nvSpPr>
        <p:spPr>
          <a:xfrm>
            <a:off x="12870909" y="6162959"/>
            <a:ext cx="15326827" cy="30418415"/>
          </a:xfrm>
        </p:spPr>
        <p:txBody>
          <a:bodyPr/>
          <a:lstStyle>
            <a:lvl1pPr>
              <a:defRPr sz="10595"/>
            </a:lvl1pPr>
            <a:lvl2pPr>
              <a:defRPr sz="9270"/>
            </a:lvl2pPr>
            <a:lvl3pPr>
              <a:defRPr sz="7945"/>
            </a:lvl3pPr>
            <a:lvl4pPr>
              <a:defRPr sz="6620"/>
            </a:lvl4pPr>
            <a:lvl5pPr>
              <a:defRPr sz="6620"/>
            </a:lvl5pPr>
            <a:lvl6pPr>
              <a:defRPr sz="6620"/>
            </a:lvl6pPr>
            <a:lvl7pPr>
              <a:defRPr sz="6620"/>
            </a:lvl7pPr>
            <a:lvl8pPr>
              <a:defRPr sz="6620"/>
            </a:lvl8pPr>
            <a:lvl9pPr>
              <a:defRPr sz="6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5"/>
            </a:lvl1pPr>
            <a:lvl2pPr marL="1513840" indent="0">
              <a:buNone/>
              <a:defRPr sz="4635"/>
            </a:lvl2pPr>
            <a:lvl3pPr marL="3027680" indent="0">
              <a:buNone/>
              <a:defRPr sz="3975"/>
            </a:lvl3pPr>
            <a:lvl4pPr marL="4541520" indent="0">
              <a:buNone/>
              <a:defRPr sz="3310"/>
            </a:lvl4pPr>
            <a:lvl5pPr marL="6054725" indent="0">
              <a:buNone/>
              <a:defRPr sz="3310"/>
            </a:lvl5pPr>
            <a:lvl6pPr marL="7568565" indent="0">
              <a:buNone/>
              <a:defRPr sz="3310"/>
            </a:lvl6pPr>
            <a:lvl7pPr marL="9082405" indent="0">
              <a:buNone/>
              <a:defRPr sz="3310"/>
            </a:lvl7pPr>
            <a:lvl8pPr marL="10596245" indent="0">
              <a:buNone/>
              <a:defRPr sz="3310"/>
            </a:lvl8pPr>
            <a:lvl9pPr marL="12110085" indent="0">
              <a:buNone/>
              <a:defRPr sz="3310"/>
            </a:lvl9pPr>
          </a:lstStyle>
          <a:p>
            <a:pPr lvl="0"/>
            <a:r>
              <a:rPr lang="en-US"/>
              <a:t>Click to edit Master text styles</a:t>
            </a:r>
          </a:p>
        </p:txBody>
      </p:sp>
      <p:sp>
        <p:nvSpPr>
          <p:cNvPr id="5" name="Date Placeholder 4"/>
          <p:cNvSpPr>
            <a:spLocks noGrp="1"/>
          </p:cNvSpPr>
          <p:nvPr>
            <p:ph type="dt" sz="half" idx="10"/>
          </p:nvPr>
        </p:nvSpPr>
        <p:spPr/>
        <p:txBody>
          <a:bodyPr/>
          <a:lstStyle/>
          <a:p>
            <a:fld id="{AF5C902B-C0C3-451E-AFC5-AC74DB77EEDF}" type="datetimeFigureOut">
              <a:rPr lang="en-GB" smtClean="0"/>
              <a:t>16/09/2026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8C40AA3-C2E7-4033-9EED-4D28BC0693B2}" type="slidenum">
              <a:rPr lang="en-GB" smtClean="0"/>
              <a:t>‹Nº›</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70909" y="6162959"/>
            <a:ext cx="15326827" cy="30418415"/>
          </a:xfrm>
        </p:spPr>
        <p:txBody>
          <a:bodyPr anchor="t"/>
          <a:lstStyle>
            <a:lvl1pPr marL="0" indent="0">
              <a:buNone/>
              <a:defRPr sz="10595"/>
            </a:lvl1pPr>
            <a:lvl2pPr marL="1513840" indent="0">
              <a:buNone/>
              <a:defRPr sz="9270"/>
            </a:lvl2pPr>
            <a:lvl3pPr marL="3027680" indent="0">
              <a:buNone/>
              <a:defRPr sz="7945"/>
            </a:lvl3pPr>
            <a:lvl4pPr marL="4541520" indent="0">
              <a:buNone/>
              <a:defRPr sz="6620"/>
            </a:lvl4pPr>
            <a:lvl5pPr marL="6054725" indent="0">
              <a:buNone/>
              <a:defRPr sz="6620"/>
            </a:lvl5pPr>
            <a:lvl6pPr marL="7568565" indent="0">
              <a:buNone/>
              <a:defRPr sz="6620"/>
            </a:lvl6pPr>
            <a:lvl7pPr marL="9082405" indent="0">
              <a:buNone/>
              <a:defRPr sz="6620"/>
            </a:lvl7pPr>
            <a:lvl8pPr marL="10596245" indent="0">
              <a:buNone/>
              <a:defRPr sz="6620"/>
            </a:lvl8pPr>
            <a:lvl9pPr marL="12110085" indent="0">
              <a:buNone/>
              <a:defRPr sz="6620"/>
            </a:lvl9pPr>
          </a:lstStyle>
          <a:p>
            <a:r>
              <a:rPr lang="en-US"/>
              <a:t>Click icon to add picture</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5"/>
            </a:lvl1pPr>
            <a:lvl2pPr marL="1513840" indent="0">
              <a:buNone/>
              <a:defRPr sz="4635"/>
            </a:lvl2pPr>
            <a:lvl3pPr marL="3027680" indent="0">
              <a:buNone/>
              <a:defRPr sz="3975"/>
            </a:lvl3pPr>
            <a:lvl4pPr marL="4541520" indent="0">
              <a:buNone/>
              <a:defRPr sz="3310"/>
            </a:lvl4pPr>
            <a:lvl5pPr marL="6054725" indent="0">
              <a:buNone/>
              <a:defRPr sz="3310"/>
            </a:lvl5pPr>
            <a:lvl6pPr marL="7568565" indent="0">
              <a:buNone/>
              <a:defRPr sz="3310"/>
            </a:lvl6pPr>
            <a:lvl7pPr marL="9082405" indent="0">
              <a:buNone/>
              <a:defRPr sz="3310"/>
            </a:lvl7pPr>
            <a:lvl8pPr marL="10596245" indent="0">
              <a:buNone/>
              <a:defRPr sz="3310"/>
            </a:lvl8pPr>
            <a:lvl9pPr marL="12110085" indent="0">
              <a:buNone/>
              <a:defRPr sz="3310"/>
            </a:lvl9pPr>
          </a:lstStyle>
          <a:p>
            <a:pPr lvl="0"/>
            <a:r>
              <a:rPr lang="en-US"/>
              <a:t>Click to edit Master text styles</a:t>
            </a:r>
          </a:p>
        </p:txBody>
      </p:sp>
      <p:sp>
        <p:nvSpPr>
          <p:cNvPr id="5" name="Date Placeholder 4"/>
          <p:cNvSpPr>
            <a:spLocks noGrp="1"/>
          </p:cNvSpPr>
          <p:nvPr>
            <p:ph type="dt" sz="half" idx="10"/>
          </p:nvPr>
        </p:nvSpPr>
        <p:spPr/>
        <p:txBody>
          <a:bodyPr/>
          <a:lstStyle/>
          <a:p>
            <a:fld id="{AF5C902B-C0C3-451E-AFC5-AC74DB77EEDF}" type="datetimeFigureOut">
              <a:rPr lang="en-GB" smtClean="0"/>
              <a:t>16/09/2026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8C40AA3-C2E7-4033-9EED-4D28BC0693B2}" type="slidenum">
              <a:rPr lang="en-GB" smtClean="0"/>
              <a:t>‹Nº›</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5C902B-C0C3-451E-AFC5-AC74DB77EEDF}"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8C40AA3-C2E7-4033-9EED-4D28BC0693B2}" type="slidenum">
              <a:rPr lang="en-GB" smtClean="0"/>
              <a:t>‹Nº›</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8904"/>
            <a:ext cx="6528093" cy="3627421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81423" y="2278904"/>
            <a:ext cx="19205838" cy="3627421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5C902B-C0C3-451E-AFC5-AC74DB77EEDF}" type="datetimeFigureOut">
              <a:rPr lang="en-GB" smtClean="0"/>
              <a:t>16/09/2026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8C40AA3-C2E7-4033-9EED-4D28BC0693B2}" type="slidenum">
              <a:rPr lang="en-GB" smtClean="0"/>
              <a:t>‹Nº›</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913"/>
            <a:ext cx="26112371" cy="82734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81421" y="11394520"/>
            <a:ext cx="26112371" cy="2715859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81421" y="39672756"/>
            <a:ext cx="6811923" cy="2278904"/>
          </a:xfrm>
          <a:prstGeom prst="rect">
            <a:avLst/>
          </a:prstGeom>
        </p:spPr>
        <p:txBody>
          <a:bodyPr vert="horz" lIns="91440" tIns="45720" rIns="91440" bIns="45720" rtlCol="0" anchor="ctr"/>
          <a:lstStyle>
            <a:lvl1pPr algn="l">
              <a:defRPr sz="3975">
                <a:solidFill>
                  <a:schemeClr val="tx1">
                    <a:tint val="75000"/>
                  </a:schemeClr>
                </a:solidFill>
              </a:defRPr>
            </a:lvl1pPr>
          </a:lstStyle>
          <a:p>
            <a:fld id="{AF5C902B-C0C3-451E-AFC5-AC74DB77EEDF}" type="datetimeFigureOut">
              <a:rPr lang="en-GB" smtClean="0"/>
              <a:t>16/09/2026</a:t>
            </a:fld>
            <a:endParaRPr lang="en-GB"/>
          </a:p>
        </p:txBody>
      </p:sp>
      <p:sp>
        <p:nvSpPr>
          <p:cNvPr id="5" name="Footer Placeholder 4"/>
          <p:cNvSpPr>
            <a:spLocks noGrp="1"/>
          </p:cNvSpPr>
          <p:nvPr>
            <p:ph type="ftr" sz="quarter" idx="3"/>
          </p:nvPr>
        </p:nvSpPr>
        <p:spPr>
          <a:xfrm>
            <a:off x="10028665" y="39672756"/>
            <a:ext cx="10217884" cy="2278904"/>
          </a:xfrm>
          <a:prstGeom prst="rect">
            <a:avLst/>
          </a:prstGeom>
        </p:spPr>
        <p:txBody>
          <a:bodyPr vert="horz" lIns="91440" tIns="45720" rIns="91440" bIns="45720" rtlCol="0" anchor="ctr"/>
          <a:lstStyle>
            <a:lvl1pPr algn="ctr">
              <a:defRPr sz="3975">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21381869" y="39672756"/>
            <a:ext cx="6811923" cy="2278904"/>
          </a:xfrm>
          <a:prstGeom prst="rect">
            <a:avLst/>
          </a:prstGeom>
        </p:spPr>
        <p:txBody>
          <a:bodyPr vert="horz" lIns="91440" tIns="45720" rIns="91440" bIns="45720" rtlCol="0" anchor="ctr"/>
          <a:lstStyle>
            <a:lvl1pPr algn="r">
              <a:defRPr sz="3975">
                <a:solidFill>
                  <a:schemeClr val="tx1">
                    <a:tint val="75000"/>
                  </a:schemeClr>
                </a:solidFill>
              </a:defRPr>
            </a:lvl1pPr>
          </a:lstStyle>
          <a:p>
            <a:fld id="{A8C40AA3-C2E7-4033-9EED-4D28BC0693B2}" type="slidenum">
              <a:rPr lang="en-GB" smtClean="0"/>
              <a:t>‹Nº›</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027680" rtl="0" eaLnBrk="1" latinLnBrk="0" hangingPunct="1">
        <a:lnSpc>
          <a:spcPct val="90000"/>
        </a:lnSpc>
        <a:spcBef>
          <a:spcPct val="0"/>
        </a:spcBef>
        <a:buNone/>
        <a:defRPr sz="14570" kern="1200">
          <a:solidFill>
            <a:schemeClr val="tx1"/>
          </a:solidFill>
          <a:latin typeface="+mj-lt"/>
          <a:ea typeface="+mj-ea"/>
          <a:cs typeface="+mj-cs"/>
        </a:defRPr>
      </a:lvl1pPr>
    </p:titleStyle>
    <p:bodyStyle>
      <a:lvl1pPr marL="756920" indent="-756920" algn="l" defTabSz="3027680" rtl="0" eaLnBrk="1" latinLnBrk="0" hangingPunct="1">
        <a:lnSpc>
          <a:spcPct val="90000"/>
        </a:lnSpc>
        <a:spcBef>
          <a:spcPts val="3310"/>
        </a:spcBef>
        <a:buFont typeface="Arial" panose="020B0604020202020204" pitchFamily="34" charset="0"/>
        <a:buChar char="•"/>
        <a:defRPr sz="9270" kern="1200">
          <a:solidFill>
            <a:schemeClr val="tx1"/>
          </a:solidFill>
          <a:latin typeface="+mn-lt"/>
          <a:ea typeface="+mn-ea"/>
          <a:cs typeface="+mn-cs"/>
        </a:defRPr>
      </a:lvl1pPr>
      <a:lvl2pPr marL="2270760" indent="-756920" algn="l" defTabSz="3027680" rtl="0" eaLnBrk="1" latinLnBrk="0" hangingPunct="1">
        <a:lnSpc>
          <a:spcPct val="90000"/>
        </a:lnSpc>
        <a:spcBef>
          <a:spcPts val="1655"/>
        </a:spcBef>
        <a:buFont typeface="Arial" panose="020B0604020202020204" pitchFamily="34" charset="0"/>
        <a:buChar char="•"/>
        <a:defRPr sz="7945" kern="1200">
          <a:solidFill>
            <a:schemeClr val="tx1"/>
          </a:solidFill>
          <a:latin typeface="+mn-lt"/>
          <a:ea typeface="+mn-ea"/>
          <a:cs typeface="+mn-cs"/>
        </a:defRPr>
      </a:lvl2pPr>
      <a:lvl3pPr marL="3784600" indent="-756920" algn="l" defTabSz="3027680" rtl="0" eaLnBrk="1" latinLnBrk="0" hangingPunct="1">
        <a:lnSpc>
          <a:spcPct val="90000"/>
        </a:lnSpc>
        <a:spcBef>
          <a:spcPts val="1655"/>
        </a:spcBef>
        <a:buFont typeface="Arial" panose="020B0604020202020204" pitchFamily="34" charset="0"/>
        <a:buChar char="•"/>
        <a:defRPr sz="6620" kern="1200">
          <a:solidFill>
            <a:schemeClr val="tx1"/>
          </a:solidFill>
          <a:latin typeface="+mn-lt"/>
          <a:ea typeface="+mn-ea"/>
          <a:cs typeface="+mn-cs"/>
        </a:defRPr>
      </a:lvl3pPr>
      <a:lvl4pPr marL="5297805" indent="-756920" algn="l" defTabSz="3027680"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645" indent="-756920" algn="l" defTabSz="3027680"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485" indent="-756920" algn="l" defTabSz="3027680"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25" indent="-756920" algn="l" defTabSz="3027680"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165" indent="-756920" algn="l" defTabSz="3027680"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7005" indent="-756920" algn="l" defTabSz="3027680"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680" rtl="0" eaLnBrk="1" latinLnBrk="0" hangingPunct="1">
        <a:defRPr sz="5960" kern="1200">
          <a:solidFill>
            <a:schemeClr val="tx1"/>
          </a:solidFill>
          <a:latin typeface="+mn-lt"/>
          <a:ea typeface="+mn-ea"/>
          <a:cs typeface="+mn-cs"/>
        </a:defRPr>
      </a:lvl1pPr>
      <a:lvl2pPr marL="1513840" algn="l" defTabSz="3027680" rtl="0" eaLnBrk="1" latinLnBrk="0" hangingPunct="1">
        <a:defRPr sz="5960" kern="1200">
          <a:solidFill>
            <a:schemeClr val="tx1"/>
          </a:solidFill>
          <a:latin typeface="+mn-lt"/>
          <a:ea typeface="+mn-ea"/>
          <a:cs typeface="+mn-cs"/>
        </a:defRPr>
      </a:lvl2pPr>
      <a:lvl3pPr marL="3027680" algn="l" defTabSz="3027680" rtl="0" eaLnBrk="1" latinLnBrk="0" hangingPunct="1">
        <a:defRPr sz="5960" kern="1200">
          <a:solidFill>
            <a:schemeClr val="tx1"/>
          </a:solidFill>
          <a:latin typeface="+mn-lt"/>
          <a:ea typeface="+mn-ea"/>
          <a:cs typeface="+mn-cs"/>
        </a:defRPr>
      </a:lvl3pPr>
      <a:lvl4pPr marL="4541520" algn="l" defTabSz="3027680" rtl="0" eaLnBrk="1" latinLnBrk="0" hangingPunct="1">
        <a:defRPr sz="5960" kern="1200">
          <a:solidFill>
            <a:schemeClr val="tx1"/>
          </a:solidFill>
          <a:latin typeface="+mn-lt"/>
          <a:ea typeface="+mn-ea"/>
          <a:cs typeface="+mn-cs"/>
        </a:defRPr>
      </a:lvl4pPr>
      <a:lvl5pPr marL="6054725" algn="l" defTabSz="3027680" rtl="0" eaLnBrk="1" latinLnBrk="0" hangingPunct="1">
        <a:defRPr sz="5960" kern="1200">
          <a:solidFill>
            <a:schemeClr val="tx1"/>
          </a:solidFill>
          <a:latin typeface="+mn-lt"/>
          <a:ea typeface="+mn-ea"/>
          <a:cs typeface="+mn-cs"/>
        </a:defRPr>
      </a:lvl5pPr>
      <a:lvl6pPr marL="7568565" algn="l" defTabSz="3027680" rtl="0" eaLnBrk="1" latinLnBrk="0" hangingPunct="1">
        <a:defRPr sz="5960" kern="1200">
          <a:solidFill>
            <a:schemeClr val="tx1"/>
          </a:solidFill>
          <a:latin typeface="+mn-lt"/>
          <a:ea typeface="+mn-ea"/>
          <a:cs typeface="+mn-cs"/>
        </a:defRPr>
      </a:lvl6pPr>
      <a:lvl7pPr marL="9082405" algn="l" defTabSz="3027680" rtl="0" eaLnBrk="1" latinLnBrk="0" hangingPunct="1">
        <a:defRPr sz="5960" kern="1200">
          <a:solidFill>
            <a:schemeClr val="tx1"/>
          </a:solidFill>
          <a:latin typeface="+mn-lt"/>
          <a:ea typeface="+mn-ea"/>
          <a:cs typeface="+mn-cs"/>
        </a:defRPr>
      </a:lvl7pPr>
      <a:lvl8pPr marL="10596245" algn="l" defTabSz="3027680" rtl="0" eaLnBrk="1" latinLnBrk="0" hangingPunct="1">
        <a:defRPr sz="5960" kern="1200">
          <a:solidFill>
            <a:schemeClr val="tx1"/>
          </a:solidFill>
          <a:latin typeface="+mn-lt"/>
          <a:ea typeface="+mn-ea"/>
          <a:cs typeface="+mn-cs"/>
        </a:defRPr>
      </a:lvl8pPr>
      <a:lvl9pPr marL="12110085" algn="l" defTabSz="3027680"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9.jpeg"/><Relationship Id="rId4" Type="http://schemas.openxmlformats.org/officeDocument/2006/relationships/image" Target="../media/image3.svg"/><Relationship Id="rId9"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Rectangle: Rounded Corners 116"/>
          <p:cNvSpPr/>
          <p:nvPr/>
        </p:nvSpPr>
        <p:spPr>
          <a:xfrm>
            <a:off x="15714804" y="36661919"/>
            <a:ext cx="10212054" cy="1251385"/>
          </a:xfrm>
          <a:prstGeom prst="roundRect">
            <a:avLst>
              <a:gd name="adj" fmla="val 50000"/>
            </a:avLst>
          </a:prstGeom>
          <a:solidFill>
            <a:srgbClr val="1E2442"/>
          </a:solidFill>
          <a:ln>
            <a:solidFill>
              <a:srgbClr val="1E24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6600" noProof="0" dirty="0">
              <a:latin typeface="+mj-lt"/>
            </a:endParaRPr>
          </a:p>
        </p:txBody>
      </p:sp>
      <p:sp>
        <p:nvSpPr>
          <p:cNvPr id="88" name="Rectangle: Rounded Corners 87"/>
          <p:cNvSpPr/>
          <p:nvPr/>
        </p:nvSpPr>
        <p:spPr>
          <a:xfrm>
            <a:off x="1373886" y="31219780"/>
            <a:ext cx="14029208" cy="1251385"/>
          </a:xfrm>
          <a:prstGeom prst="roundRect">
            <a:avLst>
              <a:gd name="adj" fmla="val 50000"/>
            </a:avLst>
          </a:prstGeom>
          <a:solidFill>
            <a:srgbClr val="1E2442"/>
          </a:solidFill>
          <a:ln>
            <a:solidFill>
              <a:srgbClr val="1E24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6600" noProof="0" dirty="0">
              <a:latin typeface="+mj-lt"/>
            </a:endParaRPr>
          </a:p>
        </p:txBody>
      </p:sp>
      <p:sp>
        <p:nvSpPr>
          <p:cNvPr id="75" name="Rectangle: Rounded Corners 74"/>
          <p:cNvSpPr/>
          <p:nvPr/>
        </p:nvSpPr>
        <p:spPr>
          <a:xfrm>
            <a:off x="10950789" y="4284738"/>
            <a:ext cx="18628095" cy="1251385"/>
          </a:xfrm>
          <a:prstGeom prst="roundRect">
            <a:avLst>
              <a:gd name="adj" fmla="val 50000"/>
            </a:avLst>
          </a:prstGeom>
          <a:solidFill>
            <a:srgbClr val="1E2442"/>
          </a:solidFill>
          <a:ln>
            <a:solidFill>
              <a:srgbClr val="1E24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6600" noProof="0" dirty="0">
              <a:latin typeface="+mj-lt"/>
            </a:endParaRPr>
          </a:p>
        </p:txBody>
      </p:sp>
      <p:sp>
        <p:nvSpPr>
          <p:cNvPr id="17" name="Rectangle 16"/>
          <p:cNvSpPr/>
          <p:nvPr/>
        </p:nvSpPr>
        <p:spPr>
          <a:xfrm>
            <a:off x="0" y="0"/>
            <a:ext cx="30275213" cy="3836509"/>
          </a:xfrm>
          <a:prstGeom prst="rect">
            <a:avLst/>
          </a:prstGeom>
          <a:solidFill>
            <a:srgbClr val="1E244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grpSp>
        <p:nvGrpSpPr>
          <p:cNvPr id="4" name="Grupo 3"/>
          <p:cNvGrpSpPr/>
          <p:nvPr/>
        </p:nvGrpSpPr>
        <p:grpSpPr>
          <a:xfrm>
            <a:off x="188079" y="232286"/>
            <a:ext cx="22170654" cy="3399590"/>
            <a:chOff x="188079" y="232286"/>
            <a:chExt cx="22170654" cy="3399590"/>
          </a:xfrm>
        </p:grpSpPr>
        <p:sp>
          <p:nvSpPr>
            <p:cNvPr id="6" name="TextBox 5"/>
            <p:cNvSpPr txBox="1"/>
            <p:nvPr/>
          </p:nvSpPr>
          <p:spPr>
            <a:xfrm>
              <a:off x="218274" y="2923990"/>
              <a:ext cx="19181930" cy="707886"/>
            </a:xfrm>
            <a:prstGeom prst="rect">
              <a:avLst/>
            </a:prstGeom>
            <a:noFill/>
          </p:spPr>
          <p:txBody>
            <a:bodyPr wrap="square">
              <a:spAutoFit/>
            </a:bodyPr>
            <a:lstStyle/>
            <a:p>
              <a:r>
                <a:rPr lang="es-CO" sz="4000" i="1" noProof="0" dirty="0">
                  <a:solidFill>
                    <a:schemeClr val="bg1"/>
                  </a:solidFill>
                  <a:latin typeface="Arial" panose="020B0604020202020204" pitchFamily="34" charset="0"/>
                  <a:ea typeface="Lato" panose="020F0502020204030203" pitchFamily="34" charset="0"/>
                  <a:cs typeface="Arial" panose="020B0604020202020204" pitchFamily="34" charset="0"/>
                </a:rPr>
                <a:t>Tecnólogo en Implementación de redes y servicios de telecomunicaciones, 3315775</a:t>
              </a:r>
              <a:endParaRPr lang="es-CO" sz="9600" i="1" noProof="0" dirty="0">
                <a:solidFill>
                  <a:schemeClr val="bg1"/>
                </a:solidFill>
                <a:latin typeface="Arial" panose="020B0604020202020204" pitchFamily="34" charset="0"/>
                <a:ea typeface="Lato" panose="020F0502020204030203" pitchFamily="34" charset="0"/>
                <a:cs typeface="Arial" panose="020B0604020202020204" pitchFamily="34" charset="0"/>
              </a:endParaRPr>
            </a:p>
          </p:txBody>
        </p:sp>
        <p:sp>
          <p:nvSpPr>
            <p:cNvPr id="7" name="TextBox 6"/>
            <p:cNvSpPr txBox="1"/>
            <p:nvPr/>
          </p:nvSpPr>
          <p:spPr>
            <a:xfrm>
              <a:off x="218274" y="1884774"/>
              <a:ext cx="19181930" cy="861774"/>
            </a:xfrm>
            <a:prstGeom prst="rect">
              <a:avLst/>
            </a:prstGeom>
            <a:noFill/>
          </p:spPr>
          <p:txBody>
            <a:bodyPr wrap="square">
              <a:spAutoFit/>
            </a:bodyPr>
            <a:lstStyle/>
            <a:p>
              <a:r>
                <a:rPr lang="es-CO" sz="5000" i="1" noProof="0" dirty="0">
                  <a:solidFill>
                    <a:schemeClr val="bg1"/>
                  </a:solidFill>
                  <a:latin typeface="Arial" panose="020B0604020202020204" pitchFamily="34" charset="0"/>
                  <a:ea typeface="Lato" panose="020F0502020204030203" pitchFamily="34" charset="0"/>
                  <a:cs typeface="Arial" panose="020B0604020202020204" pitchFamily="34" charset="0"/>
                </a:rPr>
                <a:t>Geiber pinilla, </a:t>
              </a:r>
              <a:r>
                <a:rPr lang="es-CO" sz="5000" i="1" dirty="0">
                  <a:solidFill>
                    <a:schemeClr val="bg1"/>
                  </a:solidFill>
                  <a:latin typeface="Arial" panose="020B0604020202020204" pitchFamily="34" charset="0"/>
                  <a:ea typeface="Lato" panose="020F0502020204030203" pitchFamily="34" charset="0"/>
                  <a:cs typeface="Arial" panose="020B0604020202020204" pitchFamily="34" charset="0"/>
                </a:rPr>
                <a:t>Marlon bulla</a:t>
              </a:r>
              <a:r>
                <a:rPr lang="es-CO" sz="5000" i="1" noProof="0" dirty="0">
                  <a:solidFill>
                    <a:schemeClr val="bg1"/>
                  </a:solidFill>
                  <a:latin typeface="Arial" panose="020B0604020202020204" pitchFamily="34" charset="0"/>
                  <a:ea typeface="Lato" panose="020F0502020204030203" pitchFamily="34" charset="0"/>
                  <a:cs typeface="Arial" panose="020B0604020202020204" pitchFamily="34" charset="0"/>
                </a:rPr>
                <a:t>, Yosman Useche, Samuel Ibáñez</a:t>
              </a:r>
              <a:endParaRPr lang="es-CO" sz="5000" noProof="0" dirty="0">
                <a:solidFill>
                  <a:schemeClr val="bg1"/>
                </a:solidFill>
                <a:latin typeface="Arial" panose="020B0604020202020204" pitchFamily="34" charset="0"/>
                <a:ea typeface="Lato" panose="020F0502020204030203" pitchFamily="34" charset="0"/>
                <a:cs typeface="Arial" panose="020B0604020202020204" pitchFamily="34" charset="0"/>
              </a:endParaRPr>
            </a:p>
          </p:txBody>
        </p:sp>
        <p:sp>
          <p:nvSpPr>
            <p:cNvPr id="8" name="TextBox 7"/>
            <p:cNvSpPr txBox="1"/>
            <p:nvPr/>
          </p:nvSpPr>
          <p:spPr>
            <a:xfrm>
              <a:off x="188079" y="232286"/>
              <a:ext cx="22170654" cy="1569660"/>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lang="es-ES" sz="4800" kern="0" spc="200" noProof="0" dirty="0">
                  <a:solidFill>
                    <a:schemeClr val="bg1"/>
                  </a:solidFill>
                  <a:latin typeface="Arial" panose="020B0604020202020204" pitchFamily="34" charset="0"/>
                  <a:cs typeface="Arial" panose="020B0604020202020204" pitchFamily="34" charset="0"/>
                </a:rPr>
                <a:t>Ciberseguridad para las nuevas generaciones en Cúcuta: análisis de contexto y prospectiva tecnológica 2026-2031</a:t>
              </a:r>
              <a:endParaRPr kumimoji="0" lang="es-CO" sz="4800" i="0" u="none" strike="noStrike" kern="0" cap="none" spc="200" normalizeH="0" noProof="0" dirty="0">
                <a:ln>
                  <a:noFill/>
                </a:ln>
                <a:solidFill>
                  <a:schemeClr val="bg1"/>
                </a:solidFill>
                <a:effectLst/>
                <a:uLnTx/>
                <a:uFillTx/>
                <a:latin typeface="Arial" panose="020B0604020202020204" pitchFamily="34" charset="0"/>
                <a:cs typeface="Arial" panose="020B0604020202020204" pitchFamily="34" charset="0"/>
              </a:endParaRPr>
            </a:p>
          </p:txBody>
        </p:sp>
      </p:grpSp>
      <p:grpSp>
        <p:nvGrpSpPr>
          <p:cNvPr id="10" name="Group 9"/>
          <p:cNvGrpSpPr/>
          <p:nvPr/>
        </p:nvGrpSpPr>
        <p:grpSpPr>
          <a:xfrm>
            <a:off x="26861364" y="36633905"/>
            <a:ext cx="2686118" cy="4643555"/>
            <a:chOff x="26912837" y="39555174"/>
            <a:chExt cx="2022726" cy="3011719"/>
          </a:xfrm>
          <a:solidFill>
            <a:srgbClr val="1E2442"/>
          </a:solidFill>
        </p:grpSpPr>
        <p:sp>
          <p:nvSpPr>
            <p:cNvPr id="11" name="Rectangle: Rounded Corners 10"/>
            <p:cNvSpPr/>
            <p:nvPr/>
          </p:nvSpPr>
          <p:spPr>
            <a:xfrm>
              <a:off x="26912837" y="39555174"/>
              <a:ext cx="2022726" cy="3011719"/>
            </a:xfrm>
            <a:prstGeom prst="roundRect">
              <a:avLst>
                <a:gd name="adj" fmla="val 9586"/>
              </a:avLst>
            </a:prstGeom>
            <a:grpFill/>
            <a:ln>
              <a:solidFill>
                <a:srgbClr val="1E244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CO" noProof="0" dirty="0"/>
            </a:p>
          </p:txBody>
        </p:sp>
        <p:sp>
          <p:nvSpPr>
            <p:cNvPr id="13" name="TextBox 12"/>
            <p:cNvSpPr txBox="1"/>
            <p:nvPr/>
          </p:nvSpPr>
          <p:spPr>
            <a:xfrm>
              <a:off x="27058883" y="41350129"/>
              <a:ext cx="1743588" cy="359312"/>
            </a:xfrm>
            <a:prstGeom prst="rect">
              <a:avLst/>
            </a:prstGeom>
            <a:grpFill/>
            <a:ln w="57150">
              <a:solidFill>
                <a:srgbClr val="1E2442"/>
              </a:solidFill>
            </a:ln>
          </p:spPr>
          <p:txBody>
            <a:bodyPr wrap="square">
              <a:spAutoFit/>
            </a:bodyPr>
            <a:lstStyle/>
            <a:p>
              <a:pPr algn="ctr"/>
              <a:endParaRPr lang="es-CO" sz="3000" noProof="0" dirty="0">
                <a:solidFill>
                  <a:schemeClr val="bg2"/>
                </a:solidFill>
              </a:endParaRPr>
            </a:p>
          </p:txBody>
        </p:sp>
      </p:grpSp>
      <p:sp>
        <p:nvSpPr>
          <p:cNvPr id="18" name="Rectangle: Rounded Corners 17"/>
          <p:cNvSpPr/>
          <p:nvPr/>
        </p:nvSpPr>
        <p:spPr>
          <a:xfrm>
            <a:off x="864412" y="4344808"/>
            <a:ext cx="8953499" cy="1251385"/>
          </a:xfrm>
          <a:prstGeom prst="roundRect">
            <a:avLst>
              <a:gd name="adj" fmla="val 50000"/>
            </a:avLst>
          </a:prstGeom>
          <a:solidFill>
            <a:srgbClr val="1E2442"/>
          </a:solidFill>
          <a:ln>
            <a:solidFill>
              <a:srgbClr val="1E24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6600" noProof="0" dirty="0">
              <a:latin typeface="+mj-lt"/>
            </a:endParaRPr>
          </a:p>
        </p:txBody>
      </p:sp>
      <p:sp>
        <p:nvSpPr>
          <p:cNvPr id="24" name="TextBox 23"/>
          <p:cNvSpPr txBox="1"/>
          <p:nvPr/>
        </p:nvSpPr>
        <p:spPr>
          <a:xfrm>
            <a:off x="2243096" y="4489659"/>
            <a:ext cx="5483029" cy="923330"/>
          </a:xfrm>
          <a:prstGeom prst="rect">
            <a:avLst/>
          </a:prstGeom>
          <a:noFill/>
        </p:spPr>
        <p:txBody>
          <a:bodyPr wrap="square">
            <a:spAutoFit/>
          </a:bodyPr>
          <a:lstStyle/>
          <a:p>
            <a:r>
              <a:rPr lang="es-CO" sz="5400" noProof="0" dirty="0">
                <a:solidFill>
                  <a:schemeClr val="bg1"/>
                </a:solidFill>
                <a:latin typeface="Arial" panose="020B0604020202020204" pitchFamily="34" charset="0"/>
                <a:cs typeface="Arial" panose="020B0604020202020204" pitchFamily="34" charset="0"/>
              </a:rPr>
              <a:t>Introducción</a:t>
            </a:r>
          </a:p>
        </p:txBody>
      </p:sp>
      <p:sp>
        <p:nvSpPr>
          <p:cNvPr id="30" name="TextBox 29"/>
          <p:cNvSpPr txBox="1"/>
          <p:nvPr/>
        </p:nvSpPr>
        <p:spPr>
          <a:xfrm>
            <a:off x="12005274" y="4487856"/>
            <a:ext cx="10145790" cy="923330"/>
          </a:xfrm>
          <a:prstGeom prst="rect">
            <a:avLst/>
          </a:prstGeom>
          <a:noFill/>
        </p:spPr>
        <p:txBody>
          <a:bodyPr wrap="square">
            <a:spAutoFit/>
          </a:bodyPr>
          <a:lstStyle/>
          <a:p>
            <a:r>
              <a:rPr lang="es-CO" sz="5400" noProof="0" dirty="0">
                <a:solidFill>
                  <a:schemeClr val="bg1"/>
                </a:solidFill>
                <a:latin typeface="Arial" panose="020B0604020202020204" pitchFamily="34" charset="0"/>
                <a:cs typeface="Arial" panose="020B0604020202020204" pitchFamily="34" charset="0"/>
              </a:rPr>
              <a:t>Metodología de búsqueda</a:t>
            </a:r>
          </a:p>
        </p:txBody>
      </p:sp>
      <p:sp>
        <p:nvSpPr>
          <p:cNvPr id="41" name="TextBox 40"/>
          <p:cNvSpPr txBox="1"/>
          <p:nvPr/>
        </p:nvSpPr>
        <p:spPr>
          <a:xfrm>
            <a:off x="2733963" y="31399718"/>
            <a:ext cx="12349880" cy="923330"/>
          </a:xfrm>
          <a:prstGeom prst="rect">
            <a:avLst/>
          </a:prstGeom>
          <a:noFill/>
        </p:spPr>
        <p:txBody>
          <a:bodyPr wrap="square">
            <a:spAutoFit/>
          </a:bodyPr>
          <a:lstStyle/>
          <a:p>
            <a:r>
              <a:rPr lang="es-CO" sz="5400" noProof="0" dirty="0">
                <a:solidFill>
                  <a:schemeClr val="bg1"/>
                </a:solidFill>
                <a:latin typeface="Arial" panose="020B0604020202020204" pitchFamily="34" charset="0"/>
                <a:cs typeface="Arial" panose="020B0604020202020204" pitchFamily="34" charset="0"/>
              </a:rPr>
              <a:t>Discusión</a:t>
            </a:r>
          </a:p>
        </p:txBody>
      </p:sp>
      <p:sp>
        <p:nvSpPr>
          <p:cNvPr id="49" name="TextBox 48"/>
          <p:cNvSpPr txBox="1"/>
          <p:nvPr/>
        </p:nvSpPr>
        <p:spPr>
          <a:xfrm>
            <a:off x="17415031" y="36817356"/>
            <a:ext cx="8630814" cy="923330"/>
          </a:xfrm>
          <a:prstGeom prst="rect">
            <a:avLst/>
          </a:prstGeom>
          <a:noFill/>
        </p:spPr>
        <p:txBody>
          <a:bodyPr wrap="square">
            <a:spAutoFit/>
          </a:bodyPr>
          <a:lstStyle/>
          <a:p>
            <a:r>
              <a:rPr lang="es-CO" sz="5400" noProof="0" dirty="0">
                <a:solidFill>
                  <a:schemeClr val="bg1"/>
                </a:solidFill>
                <a:latin typeface="Arial" panose="020B0604020202020204" pitchFamily="34" charset="0"/>
                <a:cs typeface="Arial" panose="020B0604020202020204" pitchFamily="34" charset="0"/>
              </a:rPr>
              <a:t>Referencias</a:t>
            </a:r>
          </a:p>
        </p:txBody>
      </p:sp>
      <p:sp>
        <p:nvSpPr>
          <p:cNvPr id="51" name="TextBox 50"/>
          <p:cNvSpPr txBox="1"/>
          <p:nvPr/>
        </p:nvSpPr>
        <p:spPr>
          <a:xfrm>
            <a:off x="750639" y="5830712"/>
            <a:ext cx="9509726" cy="4524315"/>
          </a:xfrm>
          <a:prstGeom prst="rect">
            <a:avLst/>
          </a:prstGeom>
          <a:noFill/>
        </p:spPr>
        <p:txBody>
          <a:bodyPr wrap="square">
            <a:spAutoFit/>
          </a:bodyPr>
          <a:lstStyle/>
          <a:p>
            <a:r>
              <a:rPr lang="es-ES" sz="3600" dirty="0"/>
              <a:t>El uso cotidiano de internet y dispositivos móviles conecta a los jóvenes, pero los expone a ciberacoso, estafas y suplantación de identidad. En Cúcuta, la creciente digitalización exige educar en navegación segura. Por ello, este estudio analiza los desafíos de ciberseguridad locales para proponer estrategias de prevención y protección a futuro.</a:t>
            </a:r>
            <a:endParaRPr lang="es-CO" sz="3600" noProof="0" dirty="0">
              <a:solidFill>
                <a:schemeClr val="tx2"/>
              </a:solidFill>
              <a:cs typeface="Arial" panose="020B0604020202020204" pitchFamily="34" charset="0"/>
            </a:endParaRPr>
          </a:p>
        </p:txBody>
      </p:sp>
      <p:sp>
        <p:nvSpPr>
          <p:cNvPr id="52" name="Rectangle: Rounded Corners 51"/>
          <p:cNvSpPr/>
          <p:nvPr/>
        </p:nvSpPr>
        <p:spPr>
          <a:xfrm>
            <a:off x="780136" y="10382772"/>
            <a:ext cx="9509725" cy="5159249"/>
          </a:xfrm>
          <a:prstGeom prst="roundRect">
            <a:avLst>
              <a:gd name="adj" fmla="val 9274"/>
            </a:avLst>
          </a:prstGeom>
          <a:solidFill>
            <a:schemeClr val="bg1">
              <a:lumMod val="95000"/>
            </a:schemeClr>
          </a:solidFill>
          <a:ln w="101600">
            <a:solidFill>
              <a:srgbClr val="1E24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53" name="TextBox 52"/>
          <p:cNvSpPr txBox="1"/>
          <p:nvPr/>
        </p:nvSpPr>
        <p:spPr>
          <a:xfrm flipH="1">
            <a:off x="1262297" y="11172785"/>
            <a:ext cx="8605340" cy="3539430"/>
          </a:xfrm>
          <a:prstGeom prst="rect">
            <a:avLst/>
          </a:prstGeom>
          <a:noFill/>
        </p:spPr>
        <p:txBody>
          <a:bodyPr wrap="square">
            <a:spAutoFit/>
          </a:bodyPr>
          <a:lstStyle/>
          <a:p>
            <a:pPr>
              <a:buClr>
                <a:schemeClr val="accent1"/>
              </a:buClr>
            </a:pPr>
            <a:r>
              <a:rPr lang="es-ES" sz="3200" dirty="0"/>
              <a:t>Analizar los principales riesgos de ciberseguridad de las nuevas generaciones en Cúcuta y proponer estrategias para fortalecer su protección digital.</a:t>
            </a:r>
            <a:endParaRPr lang="es-CO" sz="3000" dirty="0">
              <a:solidFill>
                <a:schemeClr val="tx2"/>
              </a:solidFill>
            </a:endParaRPr>
          </a:p>
          <a:p>
            <a:pPr>
              <a:buClr>
                <a:schemeClr val="accent1"/>
              </a:buClr>
            </a:pPr>
            <a:r>
              <a:rPr lang="es-CO" sz="3000" b="1" i="0" noProof="0" dirty="0">
                <a:solidFill>
                  <a:schemeClr val="tx2"/>
                </a:solidFill>
                <a:effectLst/>
              </a:rPr>
              <a:t>Pregunta de investigación:</a:t>
            </a:r>
            <a:r>
              <a:rPr lang="es-ES" sz="3200" dirty="0"/>
              <a:t>¿Cuáles son los principales riesgos de ciberseguridad que enfrentan las nuevas generaciones en Cúcuta y cómo pueden prevenirse?</a:t>
            </a:r>
            <a:endParaRPr lang="es-CO" sz="3000" b="0" i="0" noProof="0" dirty="0">
              <a:solidFill>
                <a:schemeClr val="tx2"/>
              </a:solidFill>
              <a:effectLst/>
            </a:endParaRPr>
          </a:p>
        </p:txBody>
      </p:sp>
      <p:sp>
        <p:nvSpPr>
          <p:cNvPr id="54" name="TextBox 53"/>
          <p:cNvSpPr txBox="1"/>
          <p:nvPr/>
        </p:nvSpPr>
        <p:spPr>
          <a:xfrm>
            <a:off x="3295953" y="10534474"/>
            <a:ext cx="4068481" cy="769441"/>
          </a:xfrm>
          <a:prstGeom prst="rect">
            <a:avLst/>
          </a:prstGeom>
          <a:noFill/>
        </p:spPr>
        <p:txBody>
          <a:bodyPr wrap="square">
            <a:spAutoFit/>
          </a:bodyPr>
          <a:lstStyle/>
          <a:p>
            <a:pPr algn="ctr"/>
            <a:r>
              <a:rPr lang="es-CO" sz="4400" b="1" noProof="0" dirty="0">
                <a:solidFill>
                  <a:srgbClr val="1E2442"/>
                </a:solidFill>
              </a:rPr>
              <a:t>Objetivo</a:t>
            </a:r>
            <a:endParaRPr lang="es-CO" sz="4400" noProof="0" dirty="0">
              <a:solidFill>
                <a:srgbClr val="1E2442"/>
              </a:solidFill>
            </a:endParaRPr>
          </a:p>
        </p:txBody>
      </p:sp>
      <p:sp>
        <p:nvSpPr>
          <p:cNvPr id="66" name="TextBox 65"/>
          <p:cNvSpPr txBox="1"/>
          <p:nvPr/>
        </p:nvSpPr>
        <p:spPr>
          <a:xfrm>
            <a:off x="13926239" y="23446321"/>
            <a:ext cx="11208564" cy="523220"/>
          </a:xfrm>
          <a:prstGeom prst="rect">
            <a:avLst/>
          </a:prstGeom>
          <a:noFill/>
        </p:spPr>
        <p:txBody>
          <a:bodyPr wrap="square">
            <a:spAutoFit/>
          </a:bodyPr>
          <a:lstStyle/>
          <a:p>
            <a:pPr algn="just"/>
            <a:r>
              <a:rPr lang="es-CO" sz="2800" b="1" noProof="0" dirty="0">
                <a:latin typeface="Arial" panose="020B0604020202020204" pitchFamily="34" charset="0"/>
                <a:cs typeface="Arial" panose="020B0604020202020204" pitchFamily="34" charset="0"/>
              </a:rPr>
              <a:t>Fig. 2: </a:t>
            </a:r>
            <a:r>
              <a:rPr lang="es-MX" sz="2800" b="1" dirty="0">
                <a:latin typeface="Arial" panose="020B0604020202020204" pitchFamily="34" charset="0"/>
                <a:cs typeface="Arial" panose="020B0604020202020204" pitchFamily="34" charset="0"/>
              </a:rPr>
              <a:t>producción bibliográfica</a:t>
            </a:r>
            <a:endParaRPr lang="es-CO" sz="2800" b="1" noProof="0" dirty="0">
              <a:latin typeface="Arial" panose="020B0604020202020204" pitchFamily="34" charset="0"/>
              <a:cs typeface="Arial" panose="020B0604020202020204" pitchFamily="34" charset="0"/>
            </a:endParaRPr>
          </a:p>
        </p:txBody>
      </p:sp>
      <p:sp>
        <p:nvSpPr>
          <p:cNvPr id="68" name="TextBox 67"/>
          <p:cNvSpPr txBox="1"/>
          <p:nvPr/>
        </p:nvSpPr>
        <p:spPr>
          <a:xfrm>
            <a:off x="1473504" y="29970391"/>
            <a:ext cx="11913673" cy="954107"/>
          </a:xfrm>
          <a:prstGeom prst="rect">
            <a:avLst/>
          </a:prstGeom>
          <a:noFill/>
        </p:spPr>
        <p:txBody>
          <a:bodyPr wrap="square">
            <a:spAutoFit/>
          </a:bodyPr>
          <a:lstStyle/>
          <a:p>
            <a:pPr algn="just"/>
            <a:r>
              <a:rPr lang="es-CO" sz="2800" b="1" dirty="0">
                <a:latin typeface="Arial" panose="020B0604020202020204" pitchFamily="34" charset="0"/>
                <a:cs typeface="Arial" panose="020B0604020202020204" pitchFamily="34" charset="0"/>
              </a:rPr>
              <a:t>Fig 3</a:t>
            </a:r>
            <a:r>
              <a:rPr lang="es-CO" sz="2800" b="1" noProof="0" dirty="0">
                <a:latin typeface="Arial" panose="020B0604020202020204" pitchFamily="34" charset="0"/>
                <a:cs typeface="Arial" panose="020B0604020202020204" pitchFamily="34" charset="0"/>
              </a:rPr>
              <a:t>:</a:t>
            </a:r>
            <a:r>
              <a:rPr lang="es-MX" sz="2800" b="1" dirty="0">
                <a:latin typeface="Arial" panose="020B0604020202020204" pitchFamily="34" charset="0"/>
                <a:cs typeface="Arial" panose="020B0604020202020204" pitchFamily="34" charset="0"/>
              </a:rPr>
              <a:t>Distribución de documentos por país de origen y colaboración entre países</a:t>
            </a:r>
            <a:r>
              <a:rPr lang="es-CO" sz="2800" b="1" noProof="0" dirty="0">
                <a:latin typeface="Arial" panose="020B0604020202020204" pitchFamily="34" charset="0"/>
                <a:cs typeface="Arial" panose="020B0604020202020204" pitchFamily="34" charset="0"/>
              </a:rPr>
              <a:t>.</a:t>
            </a:r>
          </a:p>
        </p:txBody>
      </p:sp>
      <p:sp>
        <p:nvSpPr>
          <p:cNvPr id="72" name="TextBox 71"/>
          <p:cNvSpPr txBox="1"/>
          <p:nvPr/>
        </p:nvSpPr>
        <p:spPr>
          <a:xfrm>
            <a:off x="15996414" y="32801591"/>
            <a:ext cx="13931154" cy="3539430"/>
          </a:xfrm>
          <a:prstGeom prst="rect">
            <a:avLst/>
          </a:prstGeom>
          <a:noFill/>
        </p:spPr>
        <p:txBody>
          <a:bodyPr wrap="square">
            <a:spAutoFit/>
          </a:bodyPr>
          <a:lstStyle/>
          <a:p>
            <a:r>
              <a:rPr lang="es-MX" sz="3200" dirty="0"/>
              <a:t>La ciberseguridad actual constituye un desafío socio-técnico donde la vulnerabilidad humana, impulsada por el bajo autocontrol y el procesamiento intuitivo, es explotada por la IA generativa mediante phishing lateral, </a:t>
            </a:r>
            <a:r>
              <a:rPr lang="es-MX" sz="3200" dirty="0" err="1"/>
              <a:t>smishing</a:t>
            </a:r>
            <a:r>
              <a:rPr lang="es-MX" sz="3200" dirty="0"/>
              <a:t>, </a:t>
            </a:r>
            <a:r>
              <a:rPr lang="es-MX" sz="3200" dirty="0" err="1"/>
              <a:t>quishing</a:t>
            </a:r>
            <a:r>
              <a:rPr lang="es-MX" sz="3200" dirty="0"/>
              <a:t> y </a:t>
            </a:r>
            <a:r>
              <a:rPr lang="es-MX" sz="3200" dirty="0" err="1"/>
              <a:t>deepfakes</a:t>
            </a:r>
            <a:r>
              <a:rPr lang="es-MX" sz="3200" dirty="0"/>
              <a:t>. Su mitigación exige defensas dinámicas multicapa con IA explicable (XAI), monitoreo en tiempo real y arquitectura Zero Trust. Por último, la resiliencia integral demanda una alfabetización digital experiencial y ramificada que fortalezca la verificación activa y el autocontrol del usuario</a:t>
            </a:r>
          </a:p>
        </p:txBody>
      </p:sp>
      <p:sp>
        <p:nvSpPr>
          <p:cNvPr id="74" name="TextBox 73"/>
          <p:cNvSpPr txBox="1"/>
          <p:nvPr/>
        </p:nvSpPr>
        <p:spPr>
          <a:xfrm>
            <a:off x="15120910" y="38144265"/>
            <a:ext cx="11563712" cy="3077766"/>
          </a:xfrm>
          <a:prstGeom prst="rect">
            <a:avLst/>
          </a:prstGeom>
          <a:noFill/>
        </p:spPr>
        <p:txBody>
          <a:bodyPr wrap="square">
            <a:spAutoFit/>
          </a:bodyPr>
          <a:lstStyle/>
          <a:p>
            <a:pPr algn="just">
              <a:buFont typeface="+mj-lt"/>
              <a:buAutoNum type="arabicPeriod"/>
            </a:pPr>
            <a:r>
              <a:rPr lang="es-CO" sz="2800" dirty="0"/>
              <a:t>Chauhan, J., &amp; Gupta, A. (2023). </a:t>
            </a:r>
            <a:r>
              <a:rPr lang="es-CO" sz="2800" i="1" dirty="0"/>
              <a:t>Security and </a:t>
            </a:r>
            <a:r>
              <a:rPr lang="es-CO" sz="2800" i="1" dirty="0" err="1"/>
              <a:t>privacy</a:t>
            </a:r>
            <a:r>
              <a:rPr lang="es-CO" sz="2800" i="1" dirty="0"/>
              <a:t> </a:t>
            </a:r>
            <a:r>
              <a:rPr lang="es-CO" sz="2800" i="1" dirty="0" err="1"/>
              <a:t>issues</a:t>
            </a:r>
            <a:r>
              <a:rPr lang="es-CO" sz="2800" i="1" dirty="0"/>
              <a:t> in </a:t>
            </a:r>
            <a:r>
              <a:rPr lang="es-CO" sz="2800" i="1" dirty="0" err="1"/>
              <a:t>IoT</a:t>
            </a:r>
            <a:r>
              <a:rPr lang="es-CO" sz="2800" i="1" dirty="0"/>
              <a:t> and Edge/Fog </a:t>
            </a:r>
            <a:r>
              <a:rPr lang="es-CO" sz="2800" i="1" dirty="0" err="1"/>
              <a:t>computing</a:t>
            </a:r>
            <a:r>
              <a:rPr lang="es-CO" sz="2800" i="1" dirty="0"/>
              <a:t>: A comprehensive </a:t>
            </a:r>
            <a:r>
              <a:rPr lang="es-CO" sz="2800" i="1" dirty="0" err="1"/>
              <a:t>survey</a:t>
            </a:r>
            <a:r>
              <a:rPr lang="es-CO" sz="2800" dirty="0"/>
              <a:t>. IEEE Access, 11, 45120-45135.</a:t>
            </a:r>
            <a:r>
              <a:rPr lang="es-CO" sz="2600" b="0" i="0" noProof="0" dirty="0">
                <a:solidFill>
                  <a:srgbClr val="1E2442"/>
                </a:solidFill>
                <a:effectLst/>
                <a:cs typeface="+mn-lt"/>
              </a:rPr>
              <a:t>Chen, B., Kumar, S., &amp; </a:t>
            </a:r>
            <a:r>
              <a:rPr lang="es-CO" sz="2600" b="0" i="0" noProof="0" dirty="0" err="1">
                <a:solidFill>
                  <a:srgbClr val="1E2442"/>
                </a:solidFill>
                <a:effectLst/>
                <a:cs typeface="+mn-lt"/>
              </a:rPr>
              <a:t>Lopez</a:t>
            </a:r>
            <a:r>
              <a:rPr lang="es-CO" sz="2600" b="0" i="0" noProof="0" dirty="0">
                <a:solidFill>
                  <a:srgbClr val="1E2442"/>
                </a:solidFill>
                <a:effectLst/>
                <a:cs typeface="+mn-lt"/>
              </a:rPr>
              <a:t>, A. (2019). </a:t>
            </a:r>
            <a:r>
              <a:rPr lang="es-CO" sz="2600" b="0" i="1" noProof="0" dirty="0" err="1">
                <a:solidFill>
                  <a:srgbClr val="1E2442"/>
                </a:solidFill>
                <a:effectLst/>
                <a:cs typeface="+mn-lt"/>
              </a:rPr>
              <a:t>Harnessing</a:t>
            </a:r>
            <a:r>
              <a:rPr lang="es-CO" sz="2600" b="0" i="1" noProof="0" dirty="0">
                <a:solidFill>
                  <a:srgbClr val="1E2442"/>
                </a:solidFill>
                <a:effectLst/>
                <a:cs typeface="+mn-lt"/>
              </a:rPr>
              <a:t> </a:t>
            </a:r>
            <a:r>
              <a:rPr lang="es-CO" sz="2600" b="0" i="1" noProof="0" dirty="0" err="1">
                <a:solidFill>
                  <a:srgbClr val="1E2442"/>
                </a:solidFill>
                <a:effectLst/>
                <a:cs typeface="+mn-lt"/>
              </a:rPr>
              <a:t>wind</a:t>
            </a:r>
            <a:r>
              <a:rPr lang="es-CO" sz="2600" b="0" i="1" noProof="0" dirty="0">
                <a:solidFill>
                  <a:srgbClr val="1E2442"/>
                </a:solidFill>
                <a:effectLst/>
                <a:cs typeface="+mn-lt"/>
              </a:rPr>
              <a:t> </a:t>
            </a:r>
            <a:r>
              <a:rPr lang="es-CO" sz="2600" b="0" i="1" noProof="0" dirty="0" err="1">
                <a:solidFill>
                  <a:srgbClr val="1E2442"/>
                </a:solidFill>
                <a:effectLst/>
                <a:cs typeface="+mn-lt"/>
              </a:rPr>
              <a:t>power</a:t>
            </a:r>
            <a:r>
              <a:rPr lang="es-CO" sz="2600" b="0" i="1" noProof="0" dirty="0">
                <a:solidFill>
                  <a:srgbClr val="1E2442"/>
                </a:solidFill>
                <a:effectLst/>
                <a:cs typeface="+mn-lt"/>
              </a:rPr>
              <a:t>: </a:t>
            </a:r>
            <a:r>
              <a:rPr lang="es-CO" sz="2600" b="0" i="1" noProof="0" dirty="0" err="1">
                <a:solidFill>
                  <a:srgbClr val="1E2442"/>
                </a:solidFill>
                <a:effectLst/>
                <a:cs typeface="+mn-lt"/>
              </a:rPr>
              <a:t>Innovations</a:t>
            </a:r>
            <a:r>
              <a:rPr lang="es-CO" sz="2600" b="0" i="1" noProof="0" dirty="0">
                <a:solidFill>
                  <a:srgbClr val="1E2442"/>
                </a:solidFill>
                <a:effectLst/>
                <a:cs typeface="+mn-lt"/>
              </a:rPr>
              <a:t> in turbine </a:t>
            </a:r>
            <a:r>
              <a:rPr lang="es-CO" sz="2600" b="0" i="1" noProof="0" dirty="0" err="1">
                <a:solidFill>
                  <a:srgbClr val="1E2442"/>
                </a:solidFill>
                <a:effectLst/>
                <a:cs typeface="+mn-lt"/>
              </a:rPr>
              <a:t>technology</a:t>
            </a:r>
            <a:r>
              <a:rPr lang="es-CO" sz="2600" b="0" i="0" noProof="0" dirty="0">
                <a:solidFill>
                  <a:srgbClr val="1E2442"/>
                </a:solidFill>
                <a:effectLst/>
                <a:cs typeface="+mn-lt"/>
              </a:rPr>
              <a:t>. Energy </a:t>
            </a:r>
            <a:r>
              <a:rPr lang="es-CO" sz="2600" b="0" i="0" noProof="0" dirty="0" err="1">
                <a:solidFill>
                  <a:srgbClr val="1E2442"/>
                </a:solidFill>
                <a:effectLst/>
                <a:cs typeface="+mn-lt"/>
              </a:rPr>
              <a:t>Innovations</a:t>
            </a:r>
            <a:r>
              <a:rPr lang="es-CO" sz="2600" b="0" i="0" noProof="0" dirty="0">
                <a:solidFill>
                  <a:srgbClr val="1E2442"/>
                </a:solidFill>
                <a:effectLst/>
                <a:cs typeface="+mn-lt"/>
              </a:rPr>
              <a:t>, 33(2), 201-215.</a:t>
            </a:r>
          </a:p>
          <a:p>
            <a:pPr algn="just">
              <a:buFont typeface="+mj-lt"/>
              <a:buAutoNum type="arabicPeriod"/>
            </a:pPr>
            <a:r>
              <a:rPr lang="es-CO" sz="2800" dirty="0"/>
              <a:t>Mayuri, A. V. R., &amp; Sharma, P. (2025). </a:t>
            </a:r>
            <a:r>
              <a:rPr lang="es-CO" sz="2800" i="1" dirty="0"/>
              <a:t>Edge and Fog </a:t>
            </a:r>
            <a:r>
              <a:rPr lang="es-CO" sz="2800" i="1" dirty="0" err="1"/>
              <a:t>computing</a:t>
            </a:r>
            <a:r>
              <a:rPr lang="es-CO" sz="2800" i="1" dirty="0"/>
              <a:t> </a:t>
            </a:r>
            <a:r>
              <a:rPr lang="es-CO" sz="2800" i="1" dirty="0" err="1"/>
              <a:t>frameworks</a:t>
            </a:r>
            <a:r>
              <a:rPr lang="es-CO" sz="2800" i="1" dirty="0"/>
              <a:t> </a:t>
            </a:r>
            <a:r>
              <a:rPr lang="es-CO" sz="2800" i="1" dirty="0" err="1"/>
              <a:t>for</a:t>
            </a:r>
            <a:r>
              <a:rPr lang="es-CO" sz="2800" i="1" dirty="0"/>
              <a:t> </a:t>
            </a:r>
            <a:r>
              <a:rPr lang="es-CO" sz="2800" i="1" dirty="0" err="1"/>
              <a:t>latency</a:t>
            </a:r>
            <a:r>
              <a:rPr lang="es-CO" sz="2800" i="1" dirty="0"/>
              <a:t>-sensitive </a:t>
            </a:r>
            <a:r>
              <a:rPr lang="es-CO" sz="2800" i="1" dirty="0" err="1"/>
              <a:t>IoT</a:t>
            </a:r>
            <a:r>
              <a:rPr lang="es-CO" sz="2800" i="1" dirty="0"/>
              <a:t> </a:t>
            </a:r>
            <a:r>
              <a:rPr lang="es-CO" sz="2800" i="1" dirty="0" err="1"/>
              <a:t>applications</a:t>
            </a:r>
            <a:r>
              <a:rPr lang="es-CO" sz="2800" dirty="0"/>
              <a:t>. </a:t>
            </a:r>
            <a:r>
              <a:rPr lang="es-CO" sz="2800" dirty="0" err="1"/>
              <a:t>Journal</a:t>
            </a:r>
            <a:r>
              <a:rPr lang="es-CO" sz="2800" dirty="0"/>
              <a:t> </a:t>
            </a:r>
            <a:r>
              <a:rPr lang="es-CO" sz="2800" dirty="0" err="1"/>
              <a:t>of</a:t>
            </a:r>
            <a:r>
              <a:rPr lang="es-CO" sz="2800" dirty="0"/>
              <a:t> Systems </a:t>
            </a:r>
            <a:r>
              <a:rPr lang="es-CO" sz="2800" dirty="0" err="1"/>
              <a:t>Architecture</a:t>
            </a:r>
            <a:r>
              <a:rPr lang="es-CO" sz="2800" dirty="0"/>
              <a:t>, 148, 103095.</a:t>
            </a:r>
            <a:endParaRPr lang="es-CO" sz="2600" b="0" i="0" noProof="0" dirty="0">
              <a:solidFill>
                <a:srgbClr val="1E2442"/>
              </a:solidFill>
              <a:effectLst/>
              <a:cs typeface="+mn-lt"/>
            </a:endParaRPr>
          </a:p>
        </p:txBody>
      </p:sp>
      <p:sp>
        <p:nvSpPr>
          <p:cNvPr id="76" name="TextBox 75"/>
          <p:cNvSpPr txBox="1"/>
          <p:nvPr/>
        </p:nvSpPr>
        <p:spPr>
          <a:xfrm>
            <a:off x="1177078" y="32751077"/>
            <a:ext cx="14287722" cy="3046988"/>
          </a:xfrm>
          <a:prstGeom prst="rect">
            <a:avLst/>
          </a:prstGeom>
          <a:noFill/>
        </p:spPr>
        <p:txBody>
          <a:bodyPr wrap="square">
            <a:spAutoFit/>
          </a:bodyPr>
          <a:lstStyle/>
          <a:p>
            <a:r>
              <a:rPr lang="es-CO" sz="3200" dirty="0"/>
              <a:t>Los hallazgos responden a la investigación demostrando que los mayores riesgos en Cúcuta son sociotécnicos: ingeniería social con  28% de clics en ciberacoso y la impulsividad del usuario. Coincidiendo con la literatura, se confirma que la teoría no basta. La relevancia del estudio radica en adaptar la solución al contexto fronterizo, proponiendo pasar al procesamiento deliberado mediante y aprendizaje con IA, respaldados por ciberdefensa de borde</a:t>
            </a:r>
            <a:endParaRPr lang="es-CO" sz="3000" noProof="0" dirty="0">
              <a:solidFill>
                <a:schemeClr val="tx2"/>
              </a:solidFill>
            </a:endParaRPr>
          </a:p>
        </p:txBody>
      </p:sp>
      <p:sp>
        <p:nvSpPr>
          <p:cNvPr id="14" name="TextBox 13"/>
          <p:cNvSpPr txBox="1"/>
          <p:nvPr/>
        </p:nvSpPr>
        <p:spPr>
          <a:xfrm>
            <a:off x="13079244" y="15617084"/>
            <a:ext cx="16329722" cy="523220"/>
          </a:xfrm>
          <a:prstGeom prst="rect">
            <a:avLst/>
          </a:prstGeom>
          <a:noFill/>
        </p:spPr>
        <p:txBody>
          <a:bodyPr wrap="square" rtlCol="0">
            <a:spAutoFit/>
          </a:bodyPr>
          <a:lstStyle/>
          <a:p>
            <a:r>
              <a:rPr lang="es-CO" sz="2800" b="1" noProof="0" dirty="0">
                <a:latin typeface="Arial" panose="020B0604020202020204" pitchFamily="34" charset="0"/>
                <a:cs typeface="Arial" panose="020B0604020202020204" pitchFamily="34" charset="0"/>
              </a:rPr>
              <a:t>Fig.1 Utilice este espacio para incluir una gráfica de su metodología</a:t>
            </a:r>
          </a:p>
        </p:txBody>
      </p:sp>
      <p:grpSp>
        <p:nvGrpSpPr>
          <p:cNvPr id="63" name="Group 62"/>
          <p:cNvGrpSpPr/>
          <p:nvPr/>
        </p:nvGrpSpPr>
        <p:grpSpPr>
          <a:xfrm>
            <a:off x="273420" y="4110698"/>
            <a:ext cx="1590273" cy="1590273"/>
            <a:chOff x="892384" y="6320836"/>
            <a:chExt cx="1590273" cy="1590273"/>
          </a:xfrm>
        </p:grpSpPr>
        <p:sp>
          <p:nvSpPr>
            <p:cNvPr id="56" name="Oval 55"/>
            <p:cNvSpPr/>
            <p:nvPr/>
          </p:nvSpPr>
          <p:spPr>
            <a:xfrm>
              <a:off x="892384" y="6320836"/>
              <a:ext cx="1590273" cy="1590273"/>
            </a:xfrm>
            <a:prstGeom prst="ellipse">
              <a:avLst/>
            </a:prstGeom>
            <a:solidFill>
              <a:schemeClr val="bg1"/>
            </a:solidFill>
            <a:ln w="152400">
              <a:solidFill>
                <a:srgbClr val="1E24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61" name="TextBox 60"/>
            <p:cNvSpPr txBox="1"/>
            <p:nvPr/>
          </p:nvSpPr>
          <p:spPr>
            <a:xfrm>
              <a:off x="1263829" y="6392697"/>
              <a:ext cx="847382" cy="1446550"/>
            </a:xfrm>
            <a:prstGeom prst="rect">
              <a:avLst/>
            </a:prstGeom>
            <a:noFill/>
          </p:spPr>
          <p:txBody>
            <a:bodyPr wrap="square" rtlCol="0">
              <a:spAutoFit/>
            </a:bodyPr>
            <a:lstStyle/>
            <a:p>
              <a:pPr algn="ctr"/>
              <a:r>
                <a:rPr lang="es-CO" sz="8800" noProof="0" dirty="0">
                  <a:solidFill>
                    <a:srgbClr val="1E2442"/>
                  </a:solidFill>
                  <a:latin typeface="Arial Black" panose="020B0A04020102020204" pitchFamily="34" charset="0"/>
                </a:rPr>
                <a:t>1</a:t>
              </a:r>
            </a:p>
          </p:txBody>
        </p:sp>
      </p:grpSp>
      <p:grpSp>
        <p:nvGrpSpPr>
          <p:cNvPr id="69" name="Group 68"/>
          <p:cNvGrpSpPr/>
          <p:nvPr/>
        </p:nvGrpSpPr>
        <p:grpSpPr>
          <a:xfrm>
            <a:off x="10415002" y="4130049"/>
            <a:ext cx="1590273" cy="1590273"/>
            <a:chOff x="892384" y="6320836"/>
            <a:chExt cx="1590273" cy="1590273"/>
          </a:xfrm>
        </p:grpSpPr>
        <p:sp>
          <p:nvSpPr>
            <p:cNvPr id="71" name="Oval 70"/>
            <p:cNvSpPr/>
            <p:nvPr/>
          </p:nvSpPr>
          <p:spPr>
            <a:xfrm>
              <a:off x="892384" y="6320836"/>
              <a:ext cx="1590273" cy="1590273"/>
            </a:xfrm>
            <a:prstGeom prst="ellipse">
              <a:avLst/>
            </a:prstGeom>
            <a:solidFill>
              <a:schemeClr val="bg1"/>
            </a:solidFill>
            <a:ln w="152400">
              <a:solidFill>
                <a:srgbClr val="1E24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73" name="TextBox 72"/>
            <p:cNvSpPr txBox="1"/>
            <p:nvPr/>
          </p:nvSpPr>
          <p:spPr>
            <a:xfrm>
              <a:off x="1263829" y="6392697"/>
              <a:ext cx="847382" cy="1446550"/>
            </a:xfrm>
            <a:prstGeom prst="rect">
              <a:avLst/>
            </a:prstGeom>
            <a:noFill/>
            <a:ln>
              <a:noFill/>
            </a:ln>
          </p:spPr>
          <p:txBody>
            <a:bodyPr wrap="square" rtlCol="0">
              <a:spAutoFit/>
            </a:bodyPr>
            <a:lstStyle/>
            <a:p>
              <a:pPr algn="ctr"/>
              <a:r>
                <a:rPr lang="es-CO" sz="8800" noProof="0" dirty="0">
                  <a:solidFill>
                    <a:srgbClr val="1E2442"/>
                  </a:solidFill>
                  <a:latin typeface="Arial Black" panose="020B0A04020102020204" pitchFamily="34" charset="0"/>
                </a:rPr>
                <a:t>2</a:t>
              </a:r>
            </a:p>
          </p:txBody>
        </p:sp>
      </p:grpSp>
      <p:sp>
        <p:nvSpPr>
          <p:cNvPr id="80" name="Rectangle: Rounded Corners 79"/>
          <p:cNvSpPr/>
          <p:nvPr/>
        </p:nvSpPr>
        <p:spPr>
          <a:xfrm>
            <a:off x="653898" y="16128209"/>
            <a:ext cx="28936090" cy="1251385"/>
          </a:xfrm>
          <a:prstGeom prst="roundRect">
            <a:avLst>
              <a:gd name="adj" fmla="val 50000"/>
            </a:avLst>
          </a:prstGeom>
          <a:solidFill>
            <a:srgbClr val="1E2442"/>
          </a:solidFill>
          <a:ln>
            <a:solidFill>
              <a:srgbClr val="1E24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6600" noProof="0" dirty="0">
              <a:latin typeface="+mj-lt"/>
            </a:endParaRPr>
          </a:p>
        </p:txBody>
      </p:sp>
      <p:grpSp>
        <p:nvGrpSpPr>
          <p:cNvPr id="81" name="Group 80"/>
          <p:cNvGrpSpPr/>
          <p:nvPr/>
        </p:nvGrpSpPr>
        <p:grpSpPr>
          <a:xfrm>
            <a:off x="538663" y="15971628"/>
            <a:ext cx="1590273" cy="1590273"/>
            <a:chOff x="892384" y="6320836"/>
            <a:chExt cx="1590273" cy="1590273"/>
          </a:xfrm>
        </p:grpSpPr>
        <p:sp>
          <p:nvSpPr>
            <p:cNvPr id="83" name="Oval 82"/>
            <p:cNvSpPr/>
            <p:nvPr/>
          </p:nvSpPr>
          <p:spPr>
            <a:xfrm>
              <a:off x="892384" y="6320836"/>
              <a:ext cx="1590273" cy="1590273"/>
            </a:xfrm>
            <a:prstGeom prst="ellipse">
              <a:avLst/>
            </a:prstGeom>
            <a:solidFill>
              <a:schemeClr val="bg1"/>
            </a:solidFill>
            <a:ln w="152400">
              <a:solidFill>
                <a:srgbClr val="1E24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84" name="TextBox 83"/>
            <p:cNvSpPr txBox="1"/>
            <p:nvPr/>
          </p:nvSpPr>
          <p:spPr>
            <a:xfrm>
              <a:off x="1263829" y="6392697"/>
              <a:ext cx="847382" cy="1446550"/>
            </a:xfrm>
            <a:prstGeom prst="rect">
              <a:avLst/>
            </a:prstGeom>
            <a:noFill/>
            <a:ln>
              <a:noFill/>
            </a:ln>
          </p:spPr>
          <p:txBody>
            <a:bodyPr wrap="square" rtlCol="0">
              <a:spAutoFit/>
            </a:bodyPr>
            <a:lstStyle/>
            <a:p>
              <a:pPr algn="ctr"/>
              <a:r>
                <a:rPr lang="es-CO" sz="8800" noProof="0" dirty="0">
                  <a:solidFill>
                    <a:srgbClr val="1E2442"/>
                  </a:solidFill>
                  <a:latin typeface="Arial Black" panose="020B0A04020102020204" pitchFamily="34" charset="0"/>
                </a:rPr>
                <a:t>3</a:t>
              </a:r>
            </a:p>
          </p:txBody>
        </p:sp>
      </p:grpSp>
      <p:sp>
        <p:nvSpPr>
          <p:cNvPr id="36" name="TextBox 35"/>
          <p:cNvSpPr txBox="1"/>
          <p:nvPr/>
        </p:nvSpPr>
        <p:spPr>
          <a:xfrm>
            <a:off x="2553027" y="16267035"/>
            <a:ext cx="12670205" cy="923330"/>
          </a:xfrm>
          <a:prstGeom prst="rect">
            <a:avLst/>
          </a:prstGeom>
          <a:noFill/>
        </p:spPr>
        <p:txBody>
          <a:bodyPr wrap="square">
            <a:spAutoFit/>
          </a:bodyPr>
          <a:lstStyle/>
          <a:p>
            <a:r>
              <a:rPr lang="es-CO" sz="5400" noProof="0" dirty="0">
                <a:solidFill>
                  <a:schemeClr val="bg1"/>
                </a:solidFill>
                <a:latin typeface="Arial" panose="020B0604020202020204" pitchFamily="34" charset="0"/>
                <a:cs typeface="Arial" panose="020B0604020202020204" pitchFamily="34" charset="0"/>
              </a:rPr>
              <a:t>Estado del arte y tendencias</a:t>
            </a:r>
          </a:p>
        </p:txBody>
      </p:sp>
      <p:grpSp>
        <p:nvGrpSpPr>
          <p:cNvPr id="85" name="Group 84"/>
          <p:cNvGrpSpPr/>
          <p:nvPr/>
        </p:nvGrpSpPr>
        <p:grpSpPr>
          <a:xfrm>
            <a:off x="678368" y="31096781"/>
            <a:ext cx="1590273" cy="1590273"/>
            <a:chOff x="892384" y="6320836"/>
            <a:chExt cx="1590273" cy="1590273"/>
          </a:xfrm>
        </p:grpSpPr>
        <p:sp>
          <p:nvSpPr>
            <p:cNvPr id="86" name="Oval 85"/>
            <p:cNvSpPr/>
            <p:nvPr/>
          </p:nvSpPr>
          <p:spPr>
            <a:xfrm>
              <a:off x="892384" y="6320836"/>
              <a:ext cx="1590273" cy="1590273"/>
            </a:xfrm>
            <a:prstGeom prst="ellipse">
              <a:avLst/>
            </a:prstGeom>
            <a:solidFill>
              <a:schemeClr val="bg1"/>
            </a:solidFill>
            <a:ln w="152400">
              <a:solidFill>
                <a:srgbClr val="1E24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87" name="TextBox 86"/>
            <p:cNvSpPr txBox="1"/>
            <p:nvPr/>
          </p:nvSpPr>
          <p:spPr>
            <a:xfrm>
              <a:off x="1263829" y="6392697"/>
              <a:ext cx="847382" cy="1446550"/>
            </a:xfrm>
            <a:prstGeom prst="rect">
              <a:avLst/>
            </a:prstGeom>
            <a:noFill/>
            <a:ln>
              <a:noFill/>
            </a:ln>
          </p:spPr>
          <p:txBody>
            <a:bodyPr wrap="square" rtlCol="0">
              <a:spAutoFit/>
            </a:bodyPr>
            <a:lstStyle/>
            <a:p>
              <a:pPr algn="ctr"/>
              <a:r>
                <a:rPr lang="es-CO" sz="8800" noProof="0" dirty="0">
                  <a:solidFill>
                    <a:srgbClr val="1E2442"/>
                  </a:solidFill>
                  <a:latin typeface="Arial Black" panose="020B0A04020102020204" pitchFamily="34" charset="0"/>
                </a:rPr>
                <a:t>4</a:t>
              </a:r>
            </a:p>
          </p:txBody>
        </p:sp>
      </p:grpSp>
      <p:sp>
        <p:nvSpPr>
          <p:cNvPr id="92" name="TextBox 91"/>
          <p:cNvSpPr txBox="1"/>
          <p:nvPr/>
        </p:nvSpPr>
        <p:spPr>
          <a:xfrm>
            <a:off x="15970289" y="29946629"/>
            <a:ext cx="13012474" cy="523220"/>
          </a:xfrm>
          <a:prstGeom prst="rect">
            <a:avLst/>
          </a:prstGeom>
          <a:noFill/>
        </p:spPr>
        <p:txBody>
          <a:bodyPr wrap="square">
            <a:spAutoFit/>
          </a:bodyPr>
          <a:lstStyle/>
          <a:p>
            <a:pPr algn="just"/>
            <a:r>
              <a:rPr lang="es-CO" sz="2800" b="1" noProof="0" dirty="0">
                <a:latin typeface="Arial" panose="020B0604020202020204" pitchFamily="34" charset="0"/>
                <a:cs typeface="Arial" panose="020B0604020202020204" pitchFamily="34" charset="0"/>
              </a:rPr>
              <a:t>Fig. </a:t>
            </a:r>
            <a:r>
              <a:rPr lang="es-CO" sz="2800" b="1" dirty="0">
                <a:latin typeface="Arial" panose="020B0604020202020204" pitchFamily="34" charset="0"/>
                <a:cs typeface="Arial" panose="020B0604020202020204" pitchFamily="34" charset="0"/>
              </a:rPr>
              <a:t>4</a:t>
            </a:r>
            <a:r>
              <a:rPr lang="es-CO" sz="2800" b="1" noProof="0" dirty="0">
                <a:latin typeface="Arial" panose="020B0604020202020204" pitchFamily="34" charset="0"/>
                <a:cs typeface="Arial" panose="020B0604020202020204" pitchFamily="34" charset="0"/>
              </a:rPr>
              <a:t>: </a:t>
            </a:r>
            <a:r>
              <a:rPr lang="es-MX" sz="2800" b="1" dirty="0">
                <a:latin typeface="Arial" panose="020B0604020202020204" pitchFamily="34" charset="0"/>
                <a:cs typeface="Arial" panose="020B0604020202020204" pitchFamily="34" charset="0"/>
              </a:rPr>
              <a:t>Métricas generales del estado del arte (2021–2026)</a:t>
            </a:r>
            <a:endParaRPr lang="es-CO" sz="2800" b="1" noProof="0" dirty="0">
              <a:latin typeface="Arial" panose="020B0604020202020204" pitchFamily="34" charset="0"/>
              <a:cs typeface="Arial" panose="020B0604020202020204" pitchFamily="34" charset="0"/>
            </a:endParaRPr>
          </a:p>
        </p:txBody>
      </p:sp>
      <p:sp>
        <p:nvSpPr>
          <p:cNvPr id="96" name="Rectangle: Rounded Corners 95"/>
          <p:cNvSpPr/>
          <p:nvPr/>
        </p:nvSpPr>
        <p:spPr>
          <a:xfrm>
            <a:off x="15603243" y="31219780"/>
            <a:ext cx="13931154" cy="1251385"/>
          </a:xfrm>
          <a:prstGeom prst="roundRect">
            <a:avLst>
              <a:gd name="adj" fmla="val 50000"/>
            </a:avLst>
          </a:prstGeom>
          <a:solidFill>
            <a:srgbClr val="1E2442"/>
          </a:solidFill>
          <a:ln>
            <a:solidFill>
              <a:srgbClr val="1E24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6600" noProof="0" dirty="0">
              <a:latin typeface="+mj-lt"/>
            </a:endParaRPr>
          </a:p>
        </p:txBody>
      </p:sp>
      <p:sp>
        <p:nvSpPr>
          <p:cNvPr id="45" name="TextBox 44"/>
          <p:cNvSpPr txBox="1"/>
          <p:nvPr/>
        </p:nvSpPr>
        <p:spPr>
          <a:xfrm>
            <a:off x="17350784" y="31399718"/>
            <a:ext cx="9698010" cy="923330"/>
          </a:xfrm>
          <a:prstGeom prst="rect">
            <a:avLst/>
          </a:prstGeom>
          <a:noFill/>
        </p:spPr>
        <p:txBody>
          <a:bodyPr wrap="square">
            <a:spAutoFit/>
          </a:bodyPr>
          <a:lstStyle/>
          <a:p>
            <a:r>
              <a:rPr lang="es-CO" sz="5400" noProof="0" dirty="0">
                <a:solidFill>
                  <a:schemeClr val="bg1"/>
                </a:solidFill>
                <a:latin typeface="Arial" panose="020B0604020202020204" pitchFamily="34" charset="0"/>
                <a:cs typeface="Arial" panose="020B0604020202020204" pitchFamily="34" charset="0"/>
              </a:rPr>
              <a:t>Conclusiones</a:t>
            </a:r>
          </a:p>
        </p:txBody>
      </p:sp>
      <p:grpSp>
        <p:nvGrpSpPr>
          <p:cNvPr id="97" name="Group 96"/>
          <p:cNvGrpSpPr/>
          <p:nvPr/>
        </p:nvGrpSpPr>
        <p:grpSpPr>
          <a:xfrm>
            <a:off x="15603243" y="31002478"/>
            <a:ext cx="1590273" cy="1590273"/>
            <a:chOff x="892384" y="6320836"/>
            <a:chExt cx="1590273" cy="1590273"/>
          </a:xfrm>
        </p:grpSpPr>
        <p:sp>
          <p:nvSpPr>
            <p:cNvPr id="98" name="Oval 97"/>
            <p:cNvSpPr/>
            <p:nvPr/>
          </p:nvSpPr>
          <p:spPr>
            <a:xfrm>
              <a:off x="892384" y="6320836"/>
              <a:ext cx="1590273" cy="1590273"/>
            </a:xfrm>
            <a:prstGeom prst="ellipse">
              <a:avLst/>
            </a:prstGeom>
            <a:solidFill>
              <a:schemeClr val="bg1"/>
            </a:solidFill>
            <a:ln w="152400">
              <a:solidFill>
                <a:srgbClr val="1E24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99" name="TextBox 98"/>
            <p:cNvSpPr txBox="1"/>
            <p:nvPr/>
          </p:nvSpPr>
          <p:spPr>
            <a:xfrm>
              <a:off x="1263829" y="6392697"/>
              <a:ext cx="847382" cy="1446550"/>
            </a:xfrm>
            <a:prstGeom prst="rect">
              <a:avLst/>
            </a:prstGeom>
            <a:noFill/>
            <a:ln>
              <a:noFill/>
            </a:ln>
          </p:spPr>
          <p:txBody>
            <a:bodyPr wrap="square" rtlCol="0">
              <a:spAutoFit/>
            </a:bodyPr>
            <a:lstStyle/>
            <a:p>
              <a:pPr algn="ctr"/>
              <a:r>
                <a:rPr lang="es-CO" sz="8800" noProof="0" dirty="0">
                  <a:solidFill>
                    <a:srgbClr val="1E2442"/>
                  </a:solidFill>
                  <a:latin typeface="Arial Black" panose="020B0A04020102020204" pitchFamily="34" charset="0"/>
                </a:rPr>
                <a:t>5</a:t>
              </a:r>
            </a:p>
          </p:txBody>
        </p:sp>
      </p:grpSp>
      <p:sp>
        <p:nvSpPr>
          <p:cNvPr id="116" name="TextBox 115"/>
          <p:cNvSpPr txBox="1"/>
          <p:nvPr/>
        </p:nvSpPr>
        <p:spPr>
          <a:xfrm>
            <a:off x="1177078" y="36233704"/>
            <a:ext cx="13603220" cy="4031873"/>
          </a:xfrm>
          <a:prstGeom prst="rect">
            <a:avLst/>
          </a:prstGeom>
          <a:noFill/>
        </p:spPr>
        <p:txBody>
          <a:bodyPr wrap="square" rtlCol="0">
            <a:spAutoFit/>
          </a:bodyPr>
          <a:lstStyle/>
          <a:p>
            <a:pPr lvl="0"/>
            <a:r>
              <a:rPr lang="es-CO" sz="3200" b="1" dirty="0"/>
              <a:t>Limitaciones:</a:t>
            </a:r>
            <a:r>
              <a:rPr lang="es-CO" sz="3200" dirty="0"/>
              <a:t> Falta de datos empíricos locales recopilados directamente en colegios de Cúcuta, basándose en la extrapolación de la literatura.</a:t>
            </a:r>
          </a:p>
          <a:p>
            <a:pPr lvl="0"/>
            <a:r>
              <a:rPr lang="es-CO" sz="3200" b="1" dirty="0"/>
              <a:t>Líneas futuras:</a:t>
            </a:r>
            <a:r>
              <a:rPr lang="es-CO" sz="3200" dirty="0"/>
              <a:t> Probar las plataformas adaptativas de IA en aulas locales, estudiar las brechas de género en autoprotección y medir en redes 5G/6G regionales.</a:t>
            </a:r>
          </a:p>
          <a:p>
            <a:pPr lvl="0"/>
            <a:r>
              <a:rPr lang="es-CO" sz="3200" b="1" dirty="0"/>
              <a:t>Llamado a la acción:</a:t>
            </a:r>
            <a:r>
              <a:rPr lang="es-CO" sz="3200" dirty="0"/>
              <a:t> Urge que la Alcaldía, la Gobernación y las universidades creen el </a:t>
            </a:r>
            <a:r>
              <a:rPr lang="es-CO" sz="3200" i="1" dirty="0"/>
              <a:t>Centro Municipal de Ciber-Resiliencia Juvenil (CMCRJ)</a:t>
            </a:r>
            <a:r>
              <a:rPr lang="es-CO" sz="3200" dirty="0"/>
              <a:t> para pasar de la reacción a la </a:t>
            </a:r>
          </a:p>
        </p:txBody>
      </p:sp>
      <p:grpSp>
        <p:nvGrpSpPr>
          <p:cNvPr id="118" name="Group 117"/>
          <p:cNvGrpSpPr/>
          <p:nvPr/>
        </p:nvGrpSpPr>
        <p:grpSpPr>
          <a:xfrm>
            <a:off x="15714804" y="36444617"/>
            <a:ext cx="1590273" cy="1590273"/>
            <a:chOff x="892384" y="6320836"/>
            <a:chExt cx="1590273" cy="1590273"/>
          </a:xfrm>
        </p:grpSpPr>
        <p:sp>
          <p:nvSpPr>
            <p:cNvPr id="119" name="Oval 118"/>
            <p:cNvSpPr/>
            <p:nvPr/>
          </p:nvSpPr>
          <p:spPr>
            <a:xfrm>
              <a:off x="892384" y="6320836"/>
              <a:ext cx="1590273" cy="1590273"/>
            </a:xfrm>
            <a:prstGeom prst="ellipse">
              <a:avLst/>
            </a:prstGeom>
            <a:solidFill>
              <a:schemeClr val="bg1"/>
            </a:solidFill>
            <a:ln w="152400">
              <a:solidFill>
                <a:srgbClr val="1E24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120" name="TextBox 119"/>
            <p:cNvSpPr txBox="1"/>
            <p:nvPr/>
          </p:nvSpPr>
          <p:spPr>
            <a:xfrm>
              <a:off x="1263829" y="6392697"/>
              <a:ext cx="847382" cy="1446550"/>
            </a:xfrm>
            <a:prstGeom prst="rect">
              <a:avLst/>
            </a:prstGeom>
            <a:noFill/>
            <a:ln>
              <a:noFill/>
            </a:ln>
          </p:spPr>
          <p:txBody>
            <a:bodyPr wrap="square" rtlCol="0">
              <a:spAutoFit/>
            </a:bodyPr>
            <a:lstStyle/>
            <a:p>
              <a:pPr algn="ctr"/>
              <a:r>
                <a:rPr lang="es-CO" sz="8800" noProof="0" dirty="0">
                  <a:solidFill>
                    <a:srgbClr val="1E2442"/>
                  </a:solidFill>
                  <a:latin typeface="Arial Black" panose="020B0A04020102020204" pitchFamily="34" charset="0"/>
                </a:rPr>
                <a:t>6</a:t>
              </a:r>
            </a:p>
          </p:txBody>
        </p:sp>
      </p:grpSp>
      <p:grpSp>
        <p:nvGrpSpPr>
          <p:cNvPr id="5" name="Grupo 4"/>
          <p:cNvGrpSpPr/>
          <p:nvPr/>
        </p:nvGrpSpPr>
        <p:grpSpPr>
          <a:xfrm>
            <a:off x="20917202" y="235582"/>
            <a:ext cx="9010366" cy="3330461"/>
            <a:chOff x="16762073" y="927071"/>
            <a:chExt cx="10059252" cy="3473416"/>
          </a:xfrm>
        </p:grpSpPr>
        <p:sp>
          <p:nvSpPr>
            <p:cNvPr id="2" name="Rectángulo: esquinas redondeadas 1"/>
            <p:cNvSpPr/>
            <p:nvPr/>
          </p:nvSpPr>
          <p:spPr>
            <a:xfrm>
              <a:off x="17350784" y="927071"/>
              <a:ext cx="9214942" cy="3473416"/>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pic>
          <p:nvPicPr>
            <p:cNvPr id="9" name="Picture 8"/>
            <p:cNvPicPr>
              <a:picLocks noChangeAspect="1"/>
            </p:cNvPicPr>
            <p:nvPr/>
          </p:nvPicPr>
          <p:blipFill>
            <a:blip>
              <a:extLst>
                <a:ext uri="{96DAC541-7B7A-43D3-8B79-37D633B846F1}">
                  <asvg:svgBlip xmlns:asvg="http://schemas.microsoft.com/office/drawing/2016/SVG/main" r:embed="rId2"/>
                </a:ext>
              </a:extLst>
            </a:blip>
            <a:srcRect/>
            <a:stretch>
              <a:fillRect/>
            </a:stretch>
          </p:blipFill>
          <p:spPr>
            <a:xfrm>
              <a:off x="16762073" y="1082668"/>
              <a:ext cx="10059252" cy="3162222"/>
            </a:xfrm>
            <a:prstGeom prst="rect">
              <a:avLst/>
            </a:prstGeom>
          </p:spPr>
        </p:pic>
      </p:grpSp>
      <p:grpSp>
        <p:nvGrpSpPr>
          <p:cNvPr id="34" name="Grupo 33"/>
          <p:cNvGrpSpPr/>
          <p:nvPr/>
        </p:nvGrpSpPr>
        <p:grpSpPr>
          <a:xfrm>
            <a:off x="3926031" y="41124303"/>
            <a:ext cx="22119814" cy="1679460"/>
            <a:chOff x="3802703" y="40660493"/>
            <a:chExt cx="22119814" cy="1882135"/>
          </a:xfrm>
        </p:grpSpPr>
        <p:pic>
          <p:nvPicPr>
            <p:cNvPr id="29" name="Gráfico 28"/>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02703" y="40660493"/>
              <a:ext cx="9864203" cy="1882135"/>
            </a:xfrm>
            <a:prstGeom prst="rect">
              <a:avLst/>
            </a:prstGeom>
          </p:spPr>
        </p:pic>
        <p:pic>
          <p:nvPicPr>
            <p:cNvPr id="28" name="Gráfico 27"/>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980149" y="40692938"/>
              <a:ext cx="3942368" cy="1817244"/>
            </a:xfrm>
            <a:prstGeom prst="rect">
              <a:avLst/>
            </a:prstGeom>
          </p:spPr>
        </p:pic>
        <p:pic>
          <p:nvPicPr>
            <p:cNvPr id="33" name="Gráfico 3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484048" y="40747650"/>
              <a:ext cx="4678959" cy="1707820"/>
            </a:xfrm>
            <a:prstGeom prst="rect">
              <a:avLst/>
            </a:prstGeom>
          </p:spPr>
        </p:pic>
      </p:grpSp>
      <p:pic>
        <p:nvPicPr>
          <p:cNvPr id="1028" name="Picture 4" descr="QR Code Image">
            <a:extLst>
              <a:ext uri="{FF2B5EF4-FFF2-40B4-BE49-F238E27FC236}">
                <a16:creationId xmlns:a16="http://schemas.microsoft.com/office/drawing/2014/main" id="{C2062750-113F-4CE8-93E1-574F1E3CDBD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153115" y="38034890"/>
            <a:ext cx="2102616" cy="2102616"/>
          </a:xfrm>
          <a:prstGeom prst="rect">
            <a:avLst/>
          </a:prstGeom>
          <a:noFill/>
          <a:extLst>
            <a:ext uri="{909E8E84-426E-40DD-AFC4-6F175D3DCCD1}">
              <a14:hiddenFill xmlns:a14="http://schemas.microsoft.com/office/drawing/2010/main">
                <a:solidFill>
                  <a:srgbClr val="FFFFFF"/>
                </a:solidFill>
              </a14:hiddenFill>
            </a:ext>
          </a:extLst>
        </p:spPr>
      </p:pic>
      <p:pic>
        <p:nvPicPr>
          <p:cNvPr id="12" name="Imagen 11">
            <a:extLst>
              <a:ext uri="{FF2B5EF4-FFF2-40B4-BE49-F238E27FC236}">
                <a16:creationId xmlns:a16="http://schemas.microsoft.com/office/drawing/2014/main" id="{CA973852-5BCE-4C53-A023-AD3CF349FC75}"/>
              </a:ext>
            </a:extLst>
          </p:cNvPr>
          <p:cNvPicPr>
            <a:picLocks noChangeAspect="1"/>
          </p:cNvPicPr>
          <p:nvPr/>
        </p:nvPicPr>
        <p:blipFill>
          <a:blip r:embed="rId7"/>
          <a:stretch>
            <a:fillRect/>
          </a:stretch>
        </p:blipFill>
        <p:spPr>
          <a:xfrm>
            <a:off x="15616328" y="24178381"/>
            <a:ext cx="13539178" cy="5615875"/>
          </a:xfrm>
          <a:prstGeom prst="rect">
            <a:avLst/>
          </a:prstGeom>
        </p:spPr>
      </p:pic>
      <p:pic>
        <p:nvPicPr>
          <p:cNvPr id="22" name="Imagen 21">
            <a:extLst>
              <a:ext uri="{FF2B5EF4-FFF2-40B4-BE49-F238E27FC236}">
                <a16:creationId xmlns:a16="http://schemas.microsoft.com/office/drawing/2014/main" id="{9D51E358-E948-3889-81AA-852897994DE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1662" y="24003708"/>
            <a:ext cx="15081432" cy="5759221"/>
          </a:xfrm>
          <a:prstGeom prst="rect">
            <a:avLst/>
          </a:prstGeom>
        </p:spPr>
      </p:pic>
      <p:pic>
        <p:nvPicPr>
          <p:cNvPr id="27" name="Imagen 26">
            <a:extLst>
              <a:ext uri="{FF2B5EF4-FFF2-40B4-BE49-F238E27FC236}">
                <a16:creationId xmlns:a16="http://schemas.microsoft.com/office/drawing/2014/main" id="{9A78D5E6-8976-96C0-15F0-F3550BD6545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2294022" y="5595117"/>
            <a:ext cx="15511020" cy="10087800"/>
          </a:xfrm>
          <a:prstGeom prst="rect">
            <a:avLst/>
          </a:prstGeom>
        </p:spPr>
      </p:pic>
      <p:sp>
        <p:nvSpPr>
          <p:cNvPr id="42" name="CuadroTexto 41">
            <a:extLst>
              <a:ext uri="{FF2B5EF4-FFF2-40B4-BE49-F238E27FC236}">
                <a16:creationId xmlns:a16="http://schemas.microsoft.com/office/drawing/2014/main" id="{1144AA3F-C308-6259-E9E5-9636807490AC}"/>
              </a:ext>
            </a:extLst>
          </p:cNvPr>
          <p:cNvSpPr txBox="1"/>
          <p:nvPr/>
        </p:nvSpPr>
        <p:spPr>
          <a:xfrm>
            <a:off x="1373886" y="17786555"/>
            <a:ext cx="9412561" cy="5016758"/>
          </a:xfrm>
          <a:prstGeom prst="rect">
            <a:avLst/>
          </a:prstGeom>
          <a:noFill/>
        </p:spPr>
        <p:txBody>
          <a:bodyPr wrap="square" rtlCol="0">
            <a:spAutoFit/>
          </a:bodyPr>
          <a:lstStyle/>
          <a:p>
            <a:r>
              <a:rPr lang="es-CO" sz="3200" dirty="0"/>
              <a:t>En esta investigación analizamos cómo los problemas de ciberseguridad combinan el factor humano y la tecnología. Notamos que el bajo autocontrol y la alta exposición aumentan la vulnerabilidad de los usuarios. Aunque la IA ayuda a detectar bots (93%) y amenazas en red (94.4%), también la usan para el mal: los correos de phishing creados por IA superan en clics a los humanos (28% vs. 21%). Concluimos que, pese a los avances, la ciberdefensa aún enfrenta fallas de escalabilidad</a:t>
            </a:r>
          </a:p>
        </p:txBody>
      </p:sp>
      <p:pic>
        <p:nvPicPr>
          <p:cNvPr id="44" name="Imagen 43">
            <a:extLst>
              <a:ext uri="{FF2B5EF4-FFF2-40B4-BE49-F238E27FC236}">
                <a16:creationId xmlns:a16="http://schemas.microsoft.com/office/drawing/2014/main" id="{5A15DEE9-5CF1-39CD-03D8-9A4FE648D853}"/>
              </a:ext>
            </a:extLst>
          </p:cNvPr>
          <p:cNvPicPr>
            <a:picLocks noChangeAspect="1"/>
          </p:cNvPicPr>
          <p:nvPr/>
        </p:nvPicPr>
        <p:blipFill>
          <a:blip r:embed="rId10">
            <a:extLst>
              <a:ext uri="{28A0092B-C50C-407E-A947-70E740481C1C}">
                <a14:useLocalDpi xmlns:a14="http://schemas.microsoft.com/office/drawing/2010/main" val="0"/>
              </a:ext>
            </a:extLst>
          </a:blip>
          <a:srcRect t="16695" r="25851" b="16202"/>
          <a:stretch>
            <a:fillRect/>
          </a:stretch>
        </p:blipFill>
        <p:spPr>
          <a:xfrm>
            <a:off x="12658188" y="17483190"/>
            <a:ext cx="14782687" cy="5959794"/>
          </a:xfrm>
          <a:prstGeom prst="rect">
            <a:avLst/>
          </a:prstGeom>
        </p:spPr>
      </p:pic>
    </p:spTree>
  </p:cSld>
  <p:clrMapOvr>
    <a:masterClrMapping/>
  </p:clrMapOvr>
</p:sld>
</file>

<file path=ppt/theme/theme1.xml><?xml version="1.0" encoding="utf-8"?>
<a:theme xmlns:a="http://schemas.openxmlformats.org/drawingml/2006/main" name="Office Theme">
  <a:themeElements>
    <a:clrScheme name="Custom 15">
      <a:dk1>
        <a:srgbClr val="1A1F29"/>
      </a:dk1>
      <a:lt1>
        <a:srgbClr val="FFFFFF"/>
      </a:lt1>
      <a:dk2>
        <a:srgbClr val="1A1F29"/>
      </a:dk2>
      <a:lt2>
        <a:srgbClr val="FFFFFF"/>
      </a:lt2>
      <a:accent1>
        <a:srgbClr val="3055F5"/>
      </a:accent1>
      <a:accent2>
        <a:srgbClr val="5093F7"/>
      </a:accent2>
      <a:accent3>
        <a:srgbClr val="5134F8"/>
      </a:accent3>
      <a:accent4>
        <a:srgbClr val="63D1F7"/>
      </a:accent4>
      <a:accent5>
        <a:srgbClr val="4F68F1"/>
      </a:accent5>
      <a:accent6>
        <a:srgbClr val="8834F8"/>
      </a:accent6>
      <a:hlink>
        <a:srgbClr val="000000"/>
      </a:hlink>
      <a:folHlink>
        <a:srgbClr val="000000"/>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425</TotalTime>
  <Words>638</Words>
  <Application>Microsoft Office PowerPoint</Application>
  <PresentationFormat>Personalizado</PresentationFormat>
  <Paragraphs>31</Paragraphs>
  <Slides>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vt:i4>
      </vt:variant>
    </vt:vector>
  </HeadingPairs>
  <TitlesOfParts>
    <vt:vector size="6" baseType="lpstr">
      <vt:lpstr>Arial</vt:lpstr>
      <vt:lpstr>Arial Black</vt:lpstr>
      <vt:lpstr>Calibri</vt:lpstr>
      <vt:lpstr>Calibri Light</vt:lpstr>
      <vt:lpstr>Office Theme</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Femke Cappon</dc:creator>
  <cp:lastModifiedBy>SENA_CEET</cp:lastModifiedBy>
  <cp:revision>33</cp:revision>
  <dcterms:created xsi:type="dcterms:W3CDTF">2026-08-31T16:06:25Z</dcterms:created>
  <dcterms:modified xsi:type="dcterms:W3CDTF">2026-09-16T14:33:36Z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1033-11.1.0.11733</vt:lpwstr>
  </property>
</Properties>
</file>