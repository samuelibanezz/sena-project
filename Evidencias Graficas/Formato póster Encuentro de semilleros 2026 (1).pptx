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9"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442"/>
    <a:srgbClr val="5BA647"/>
    <a:srgbClr val="DFDFD7"/>
    <a:srgbClr val="531705"/>
    <a:srgbClr val="794B3D"/>
    <a:srgbClr val="B20F18"/>
    <a:srgbClr val="E34900"/>
    <a:srgbClr val="F2F2F2"/>
    <a:srgbClr val="25252D"/>
    <a:srgbClr val="F2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6247" autoAdjust="0"/>
  </p:normalViewPr>
  <p:slideViewPr>
    <p:cSldViewPr snapToGrid="0">
      <p:cViewPr>
        <p:scale>
          <a:sx n="33" d="100"/>
          <a:sy n="33" d="100"/>
        </p:scale>
        <p:origin x="710" y="-50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3100663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4126781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1094946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F5C902B-C0C3-451E-AFC5-AC74DB77EEDF}"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355250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s-ES"/>
              <a:t>Haga clic para modificar los estilos de texto del patrón</a:t>
            </a:r>
          </a:p>
        </p:txBody>
      </p:sp>
      <p:sp>
        <p:nvSpPr>
          <p:cNvPr id="4" name="Content Placeholder 3"/>
          <p:cNvSpPr>
            <a:spLocks noGrp="1"/>
          </p:cNvSpPr>
          <p:nvPr>
            <p:ph sz="half" idx="2"/>
          </p:nvPr>
        </p:nvSpPr>
        <p:spPr>
          <a:xfrm>
            <a:off x="2085368" y="15635264"/>
            <a:ext cx="12807832" cy="2299711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s-ES"/>
              <a:t>Haga clic para modificar los estilos de texto del patrón</a:t>
            </a:r>
          </a:p>
        </p:txBody>
      </p:sp>
      <p:sp>
        <p:nvSpPr>
          <p:cNvPr id="6" name="Content Placeholder 5"/>
          <p:cNvSpPr>
            <a:spLocks noGrp="1"/>
          </p:cNvSpPr>
          <p:nvPr>
            <p:ph sz="quarter" idx="4"/>
          </p:nvPr>
        </p:nvSpPr>
        <p:spPr>
          <a:xfrm>
            <a:off x="15326828" y="15635264"/>
            <a:ext cx="12870909" cy="2299711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F5C902B-C0C3-451E-AFC5-AC74DB77EEDF}" type="datetimeFigureOut">
              <a:rPr lang="en-GB" smtClean="0"/>
              <a:t>16/09/2026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873800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F5C902B-C0C3-451E-AFC5-AC74DB77EEDF}" type="datetimeFigureOut">
              <a:rPr lang="en-GB" smtClean="0"/>
              <a:t>16/09/2026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425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5C902B-C0C3-451E-AFC5-AC74DB77EEDF}" type="datetimeFigureOut">
              <a:rPr lang="en-GB" smtClean="0"/>
              <a:t>16/09/2026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679340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s-ES"/>
              <a:t>Haga clic para modificar el estilo de título del patrón</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F5C902B-C0C3-451E-AFC5-AC74DB77EEDF}"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383469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F5C902B-C0C3-451E-AFC5-AC74DB77EEDF}"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1808967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3952148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extLst>
      <p:ext uri="{BB962C8B-B14F-4D97-AF65-F5344CB8AC3E}">
        <p14:creationId xmlns:p14="http://schemas.microsoft.com/office/powerpoint/2010/main" val="2608467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AF5C902B-C0C3-451E-AFC5-AC74DB77EEDF}" type="datetimeFigureOut">
              <a:rPr lang="en-GB" smtClean="0"/>
              <a:t>16/09/2026</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A8C40AA3-C2E7-4033-9EED-4D28BC0693B2}" type="slidenum">
              <a:rPr lang="en-GB" smtClean="0"/>
              <a:t>‹Nº›</a:t>
            </a:fld>
            <a:endParaRPr lang="en-GB"/>
          </a:p>
        </p:txBody>
      </p:sp>
    </p:spTree>
    <p:extLst>
      <p:ext uri="{BB962C8B-B14F-4D97-AF65-F5344CB8AC3E}">
        <p14:creationId xmlns:p14="http://schemas.microsoft.com/office/powerpoint/2010/main" val="20586753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Rectangle: Rounded Corners 116"/>
          <p:cNvSpPr/>
          <p:nvPr/>
        </p:nvSpPr>
        <p:spPr>
          <a:xfrm>
            <a:off x="15714804" y="36661919"/>
            <a:ext cx="10212054"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88" name="Rectangle: Rounded Corners 87"/>
          <p:cNvSpPr/>
          <p:nvPr/>
        </p:nvSpPr>
        <p:spPr>
          <a:xfrm>
            <a:off x="1373886" y="31219780"/>
            <a:ext cx="14029208"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75" name="Rectangle: Rounded Corners 74"/>
          <p:cNvSpPr/>
          <p:nvPr/>
        </p:nvSpPr>
        <p:spPr>
          <a:xfrm>
            <a:off x="10950789" y="4284738"/>
            <a:ext cx="18628095"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17" name="Rectangle 16"/>
          <p:cNvSpPr/>
          <p:nvPr/>
        </p:nvSpPr>
        <p:spPr>
          <a:xfrm>
            <a:off x="0" y="0"/>
            <a:ext cx="30275213" cy="3836509"/>
          </a:xfrm>
          <a:prstGeom prst="rect">
            <a:avLst/>
          </a:prstGeom>
          <a:solidFill>
            <a:srgbClr val="1E244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grpSp>
        <p:nvGrpSpPr>
          <p:cNvPr id="4" name="Grupo 3"/>
          <p:cNvGrpSpPr/>
          <p:nvPr/>
        </p:nvGrpSpPr>
        <p:grpSpPr>
          <a:xfrm>
            <a:off x="188079" y="232286"/>
            <a:ext cx="22170654" cy="3399590"/>
            <a:chOff x="188079" y="232286"/>
            <a:chExt cx="22170654" cy="3399590"/>
          </a:xfrm>
        </p:grpSpPr>
        <p:sp>
          <p:nvSpPr>
            <p:cNvPr id="6" name="TextBox 5"/>
            <p:cNvSpPr txBox="1"/>
            <p:nvPr/>
          </p:nvSpPr>
          <p:spPr>
            <a:xfrm>
              <a:off x="218273" y="2923990"/>
              <a:ext cx="21516312" cy="707886"/>
            </a:xfrm>
            <a:prstGeom prst="rect">
              <a:avLst/>
            </a:prstGeom>
            <a:noFill/>
          </p:spPr>
          <p:txBody>
            <a:bodyPr wrap="square">
              <a:spAutoFit/>
            </a:bodyPr>
            <a:lstStyle/>
            <a:p>
              <a:r>
                <a:rPr lang="es-CO" sz="4000" i="1" noProof="0" dirty="0">
                  <a:solidFill>
                    <a:schemeClr val="bg1"/>
                  </a:solidFill>
                  <a:latin typeface="Arial" panose="020B0604020202020204" pitchFamily="34" charset="0"/>
                  <a:ea typeface="Lato" panose="020F0502020204030203" pitchFamily="34" charset="0"/>
                  <a:cs typeface="Arial" panose="020B0604020202020204" pitchFamily="34" charset="0"/>
                </a:rPr>
                <a:t>Tecnólogo en Implementación de Redes y Servicios de Telecomunicaciones, </a:t>
              </a:r>
              <a:r>
                <a:rPr lang="es-CO" sz="3600" i="1" noProof="0" dirty="0">
                  <a:solidFill>
                    <a:schemeClr val="bg1"/>
                  </a:solidFill>
                  <a:latin typeface="Arial" panose="020B0604020202020204" pitchFamily="34" charset="0"/>
                  <a:ea typeface="Lato" panose="020F0502020204030203" pitchFamily="34" charset="0"/>
                  <a:cs typeface="Arial" panose="020B0604020202020204" pitchFamily="34" charset="0"/>
                </a:rPr>
                <a:t>Ficha</a:t>
              </a:r>
              <a:r>
                <a:rPr lang="es-CO" sz="4000" i="1" noProof="0" dirty="0">
                  <a:solidFill>
                    <a:schemeClr val="bg1"/>
                  </a:solidFill>
                  <a:latin typeface="Arial" panose="020B0604020202020204" pitchFamily="34" charset="0"/>
                  <a:ea typeface="Lato" panose="020F0502020204030203" pitchFamily="34" charset="0"/>
                  <a:cs typeface="Arial" panose="020B0604020202020204" pitchFamily="34" charset="0"/>
                </a:rPr>
                <a:t>: 3315775</a:t>
              </a:r>
              <a:endParaRPr lang="es-CO" sz="9600" i="1" noProof="0" dirty="0">
                <a:solidFill>
                  <a:schemeClr val="bg1"/>
                </a:solidFill>
                <a:latin typeface="Arial" panose="020B0604020202020204" pitchFamily="34" charset="0"/>
                <a:ea typeface="Lato" panose="020F0502020204030203" pitchFamily="34" charset="0"/>
                <a:cs typeface="Arial" panose="020B0604020202020204" pitchFamily="34" charset="0"/>
              </a:endParaRPr>
            </a:p>
          </p:txBody>
        </p:sp>
        <p:sp>
          <p:nvSpPr>
            <p:cNvPr id="7" name="TextBox 6"/>
            <p:cNvSpPr txBox="1"/>
            <p:nvPr/>
          </p:nvSpPr>
          <p:spPr>
            <a:xfrm>
              <a:off x="218274" y="1884774"/>
              <a:ext cx="19181930" cy="861774"/>
            </a:xfrm>
            <a:prstGeom prst="rect">
              <a:avLst/>
            </a:prstGeom>
            <a:noFill/>
          </p:spPr>
          <p:txBody>
            <a:bodyPr wrap="square">
              <a:spAutoFit/>
            </a:bodyPr>
            <a:lstStyle/>
            <a:p>
              <a:r>
                <a:rPr lang="es-CO" sz="5000" i="1" noProof="0" dirty="0">
                  <a:solidFill>
                    <a:schemeClr val="bg1"/>
                  </a:solidFill>
                  <a:latin typeface="Arial" panose="020B0604020202020204" pitchFamily="34" charset="0"/>
                  <a:ea typeface="Lato" panose="020F0502020204030203" pitchFamily="34" charset="0"/>
                  <a:cs typeface="Arial" panose="020B0604020202020204" pitchFamily="34" charset="0"/>
                </a:rPr>
                <a:t>Geiber pinilla, </a:t>
              </a:r>
              <a:r>
                <a:rPr lang="es-CO" sz="5000" i="1" dirty="0">
                  <a:solidFill>
                    <a:schemeClr val="bg1"/>
                  </a:solidFill>
                  <a:latin typeface="Arial" panose="020B0604020202020204" pitchFamily="34" charset="0"/>
                  <a:ea typeface="Lato" panose="020F0502020204030203" pitchFamily="34" charset="0"/>
                  <a:cs typeface="Arial" panose="020B0604020202020204" pitchFamily="34" charset="0"/>
                </a:rPr>
                <a:t>Marlon bulla</a:t>
              </a:r>
              <a:r>
                <a:rPr lang="es-CO" sz="5000" i="1" noProof="0" dirty="0">
                  <a:solidFill>
                    <a:schemeClr val="bg1"/>
                  </a:solidFill>
                  <a:latin typeface="Arial" panose="020B0604020202020204" pitchFamily="34" charset="0"/>
                  <a:ea typeface="Lato" panose="020F0502020204030203" pitchFamily="34" charset="0"/>
                  <a:cs typeface="Arial" panose="020B0604020202020204" pitchFamily="34" charset="0"/>
                </a:rPr>
                <a:t>, Yosman Useche, Samuel Ibáñez</a:t>
              </a:r>
              <a:endParaRPr lang="es-CO" sz="5000" noProof="0" dirty="0">
                <a:solidFill>
                  <a:schemeClr val="bg1"/>
                </a:solidFill>
                <a:latin typeface="Arial" panose="020B0604020202020204" pitchFamily="34" charset="0"/>
                <a:ea typeface="Lato" panose="020F0502020204030203" pitchFamily="34" charset="0"/>
                <a:cs typeface="Arial" panose="020B0604020202020204" pitchFamily="34" charset="0"/>
              </a:endParaRPr>
            </a:p>
          </p:txBody>
        </p:sp>
        <p:sp>
          <p:nvSpPr>
            <p:cNvPr id="8" name="TextBox 7"/>
            <p:cNvSpPr txBox="1"/>
            <p:nvPr/>
          </p:nvSpPr>
          <p:spPr>
            <a:xfrm>
              <a:off x="188079" y="232286"/>
              <a:ext cx="22170654" cy="156966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lang="es-ES" sz="4800" kern="0" spc="200" noProof="0" dirty="0">
                  <a:solidFill>
                    <a:schemeClr val="bg1"/>
                  </a:solidFill>
                  <a:latin typeface="Arial" panose="020B0604020202020204" pitchFamily="34" charset="0"/>
                  <a:cs typeface="Arial" panose="020B0604020202020204" pitchFamily="34" charset="0"/>
                </a:rPr>
                <a:t>Ciberseguridad para las nuevas generaciones en Cúcuta: análisis de contexto y prospectiva tecnológica 2026-2031</a:t>
              </a:r>
              <a:endParaRPr kumimoji="0" lang="es-CO" sz="4800" i="0" u="none" strike="noStrike" kern="0" cap="none" spc="200" normalizeH="0" noProof="0" dirty="0">
                <a:ln>
                  <a:noFill/>
                </a:ln>
                <a:solidFill>
                  <a:schemeClr val="bg1"/>
                </a:solidFill>
                <a:effectLst/>
                <a:uLnTx/>
                <a:uFillTx/>
                <a:latin typeface="Arial" panose="020B0604020202020204" pitchFamily="34" charset="0"/>
                <a:cs typeface="Arial" panose="020B0604020202020204" pitchFamily="34" charset="0"/>
              </a:endParaRPr>
            </a:p>
          </p:txBody>
        </p:sp>
      </p:grpSp>
      <p:grpSp>
        <p:nvGrpSpPr>
          <p:cNvPr id="10" name="Group 9"/>
          <p:cNvGrpSpPr/>
          <p:nvPr/>
        </p:nvGrpSpPr>
        <p:grpSpPr>
          <a:xfrm>
            <a:off x="26988395" y="36817356"/>
            <a:ext cx="2686118" cy="4643555"/>
            <a:chOff x="26912837" y="39555174"/>
            <a:chExt cx="2022726" cy="3011719"/>
          </a:xfrm>
          <a:solidFill>
            <a:srgbClr val="1E2442"/>
          </a:solidFill>
        </p:grpSpPr>
        <p:sp>
          <p:nvSpPr>
            <p:cNvPr id="11" name="Rectangle: Rounded Corners 10"/>
            <p:cNvSpPr/>
            <p:nvPr/>
          </p:nvSpPr>
          <p:spPr>
            <a:xfrm>
              <a:off x="26912837" y="39555174"/>
              <a:ext cx="2022726" cy="3011719"/>
            </a:xfrm>
            <a:prstGeom prst="roundRect">
              <a:avLst>
                <a:gd name="adj" fmla="val 9586"/>
              </a:avLst>
            </a:prstGeom>
            <a:grpFill/>
            <a:ln>
              <a:solidFill>
                <a:srgbClr val="1E244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noProof="0" dirty="0"/>
            </a:p>
          </p:txBody>
        </p:sp>
        <p:sp>
          <p:nvSpPr>
            <p:cNvPr id="13" name="TextBox 12"/>
            <p:cNvSpPr txBox="1"/>
            <p:nvPr/>
          </p:nvSpPr>
          <p:spPr>
            <a:xfrm>
              <a:off x="27058883" y="41350129"/>
              <a:ext cx="1743588" cy="359312"/>
            </a:xfrm>
            <a:prstGeom prst="rect">
              <a:avLst/>
            </a:prstGeom>
            <a:grpFill/>
            <a:ln w="57150">
              <a:solidFill>
                <a:srgbClr val="1E2442"/>
              </a:solidFill>
            </a:ln>
          </p:spPr>
          <p:txBody>
            <a:bodyPr wrap="square">
              <a:spAutoFit/>
            </a:bodyPr>
            <a:lstStyle/>
            <a:p>
              <a:pPr algn="ctr"/>
              <a:endParaRPr lang="es-CO" sz="3000" noProof="0" dirty="0">
                <a:solidFill>
                  <a:schemeClr val="bg2"/>
                </a:solidFill>
              </a:endParaRPr>
            </a:p>
          </p:txBody>
        </p:sp>
      </p:grpSp>
      <p:sp>
        <p:nvSpPr>
          <p:cNvPr id="18" name="Rectangle: Rounded Corners 17"/>
          <p:cNvSpPr/>
          <p:nvPr/>
        </p:nvSpPr>
        <p:spPr>
          <a:xfrm>
            <a:off x="864412" y="4344808"/>
            <a:ext cx="8953499"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24" name="TextBox 23"/>
          <p:cNvSpPr txBox="1"/>
          <p:nvPr/>
        </p:nvSpPr>
        <p:spPr>
          <a:xfrm>
            <a:off x="2243096" y="4489659"/>
            <a:ext cx="5483029"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Introducción</a:t>
            </a:r>
          </a:p>
        </p:txBody>
      </p:sp>
      <p:sp>
        <p:nvSpPr>
          <p:cNvPr id="30" name="TextBox 29"/>
          <p:cNvSpPr txBox="1"/>
          <p:nvPr/>
        </p:nvSpPr>
        <p:spPr>
          <a:xfrm>
            <a:off x="12005274" y="4487856"/>
            <a:ext cx="10145790"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Metodología de búsqueda</a:t>
            </a:r>
          </a:p>
        </p:txBody>
      </p:sp>
      <p:sp>
        <p:nvSpPr>
          <p:cNvPr id="41" name="TextBox 40"/>
          <p:cNvSpPr txBox="1"/>
          <p:nvPr/>
        </p:nvSpPr>
        <p:spPr>
          <a:xfrm>
            <a:off x="2733963" y="31399718"/>
            <a:ext cx="12349880"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Discusión</a:t>
            </a:r>
          </a:p>
        </p:txBody>
      </p:sp>
      <p:sp>
        <p:nvSpPr>
          <p:cNvPr id="49" name="TextBox 48"/>
          <p:cNvSpPr txBox="1"/>
          <p:nvPr/>
        </p:nvSpPr>
        <p:spPr>
          <a:xfrm>
            <a:off x="17415031" y="36817356"/>
            <a:ext cx="8630814"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Referencias</a:t>
            </a:r>
          </a:p>
        </p:txBody>
      </p:sp>
      <p:sp>
        <p:nvSpPr>
          <p:cNvPr id="51" name="TextBox 50"/>
          <p:cNvSpPr txBox="1"/>
          <p:nvPr/>
        </p:nvSpPr>
        <p:spPr>
          <a:xfrm>
            <a:off x="750639" y="5830712"/>
            <a:ext cx="9509726" cy="4524315"/>
          </a:xfrm>
          <a:prstGeom prst="rect">
            <a:avLst/>
          </a:prstGeom>
          <a:noFill/>
        </p:spPr>
        <p:txBody>
          <a:bodyPr wrap="square">
            <a:spAutoFit/>
          </a:bodyPr>
          <a:lstStyle/>
          <a:p>
            <a:r>
              <a:rPr lang="es-ES" sz="3600" dirty="0"/>
              <a:t>El uso cotidiano de internet y dispositivos móviles conecta a los jóvenes, pero los expone a ciberacoso, estafas y suplantación de identidad. En Cúcuta, la creciente digitalización exige educar en navegación segura. Por ello, este estudio analiza los desafíos de ciberseguridad locales para proponer estrategias de prevención y protección a futuro.</a:t>
            </a:r>
            <a:endParaRPr lang="es-CO" sz="3600" noProof="0" dirty="0">
              <a:solidFill>
                <a:schemeClr val="tx2"/>
              </a:solidFill>
              <a:cs typeface="Arial" panose="020B0604020202020204" pitchFamily="34" charset="0"/>
            </a:endParaRPr>
          </a:p>
        </p:txBody>
      </p:sp>
      <p:sp>
        <p:nvSpPr>
          <p:cNvPr id="52" name="Rectangle: Rounded Corners 51"/>
          <p:cNvSpPr/>
          <p:nvPr/>
        </p:nvSpPr>
        <p:spPr>
          <a:xfrm>
            <a:off x="780136" y="10382772"/>
            <a:ext cx="9509725" cy="5159249"/>
          </a:xfrm>
          <a:prstGeom prst="roundRect">
            <a:avLst>
              <a:gd name="adj" fmla="val 9274"/>
            </a:avLst>
          </a:prstGeom>
          <a:solidFill>
            <a:schemeClr val="bg1">
              <a:lumMod val="95000"/>
            </a:schemeClr>
          </a:solidFill>
          <a:ln w="1016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53" name="TextBox 52"/>
          <p:cNvSpPr txBox="1"/>
          <p:nvPr/>
        </p:nvSpPr>
        <p:spPr>
          <a:xfrm flipH="1">
            <a:off x="1262297" y="11172785"/>
            <a:ext cx="8605340" cy="4031873"/>
          </a:xfrm>
          <a:prstGeom prst="rect">
            <a:avLst/>
          </a:prstGeom>
          <a:noFill/>
        </p:spPr>
        <p:txBody>
          <a:bodyPr wrap="square">
            <a:spAutoFit/>
          </a:bodyPr>
          <a:lstStyle/>
          <a:p>
            <a:pPr>
              <a:buClr>
                <a:schemeClr val="accent1"/>
              </a:buClr>
            </a:pPr>
            <a:r>
              <a:rPr lang="es-ES" sz="3200" dirty="0"/>
              <a:t>Analizar los principales riesgos de ciberseguridad de las nuevas generaciones en Cúcuta y proponer estrategias para fortalecer su protección digital.</a:t>
            </a:r>
          </a:p>
          <a:p>
            <a:pPr>
              <a:buClr>
                <a:schemeClr val="accent1"/>
              </a:buClr>
            </a:pPr>
            <a:endParaRPr lang="es-CO" sz="3200" dirty="0">
              <a:solidFill>
                <a:schemeClr val="tx2"/>
              </a:solidFill>
            </a:endParaRPr>
          </a:p>
          <a:p>
            <a:pPr>
              <a:buClr>
                <a:schemeClr val="accent1"/>
              </a:buClr>
            </a:pPr>
            <a:r>
              <a:rPr lang="es-CO" sz="3200" b="1" i="0" noProof="0" dirty="0">
                <a:solidFill>
                  <a:schemeClr val="tx2"/>
                </a:solidFill>
                <a:effectLst/>
              </a:rPr>
              <a:t>Pregunta de investigación: </a:t>
            </a:r>
            <a:r>
              <a:rPr lang="es-ES" sz="3200" dirty="0"/>
              <a:t>¿Cuáles son los principales riesgos de ciberseguridad que enfrentan las nuevas generaciones en Cúcuta y cómo pueden prevenirse?</a:t>
            </a:r>
            <a:endParaRPr lang="es-CO" sz="3200" b="0" i="0" noProof="0" dirty="0">
              <a:solidFill>
                <a:schemeClr val="tx2"/>
              </a:solidFill>
              <a:effectLst/>
            </a:endParaRPr>
          </a:p>
        </p:txBody>
      </p:sp>
      <p:sp>
        <p:nvSpPr>
          <p:cNvPr id="54" name="TextBox 53"/>
          <p:cNvSpPr txBox="1"/>
          <p:nvPr/>
        </p:nvSpPr>
        <p:spPr>
          <a:xfrm>
            <a:off x="3295953" y="10534474"/>
            <a:ext cx="4430172" cy="769441"/>
          </a:xfrm>
          <a:prstGeom prst="rect">
            <a:avLst/>
          </a:prstGeom>
          <a:noFill/>
        </p:spPr>
        <p:txBody>
          <a:bodyPr wrap="square">
            <a:spAutoFit/>
          </a:bodyPr>
          <a:lstStyle/>
          <a:p>
            <a:pPr algn="ctr"/>
            <a:r>
              <a:rPr lang="es-CO" sz="4400" b="1" noProof="0" dirty="0">
                <a:solidFill>
                  <a:srgbClr val="1E2442"/>
                </a:solidFill>
              </a:rPr>
              <a:t>Objetivo General</a:t>
            </a:r>
            <a:endParaRPr lang="es-CO" sz="4400" noProof="0" dirty="0">
              <a:solidFill>
                <a:srgbClr val="1E2442"/>
              </a:solidFill>
            </a:endParaRPr>
          </a:p>
        </p:txBody>
      </p:sp>
      <p:sp>
        <p:nvSpPr>
          <p:cNvPr id="66" name="TextBox 65"/>
          <p:cNvSpPr txBox="1"/>
          <p:nvPr/>
        </p:nvSpPr>
        <p:spPr>
          <a:xfrm>
            <a:off x="16576063" y="23443507"/>
            <a:ext cx="11208564" cy="523220"/>
          </a:xfrm>
          <a:prstGeom prst="rect">
            <a:avLst/>
          </a:prstGeom>
          <a:noFill/>
        </p:spPr>
        <p:txBody>
          <a:bodyPr wrap="square">
            <a:spAutoFit/>
          </a:bodyPr>
          <a:lstStyle/>
          <a:p>
            <a:pPr algn="ctr"/>
            <a:r>
              <a:rPr lang="es-CO" sz="2800" b="1" noProof="0" dirty="0">
                <a:latin typeface="Arial" panose="020B0604020202020204" pitchFamily="34" charset="0"/>
                <a:cs typeface="Arial" panose="020B0604020202020204" pitchFamily="34" charset="0"/>
              </a:rPr>
              <a:t>Fig. 2: </a:t>
            </a:r>
            <a:r>
              <a:rPr lang="es-MX" sz="2800" b="1" dirty="0">
                <a:latin typeface="Arial" panose="020B0604020202020204" pitchFamily="34" charset="0"/>
                <a:cs typeface="Arial" panose="020B0604020202020204" pitchFamily="34" charset="0"/>
              </a:rPr>
              <a:t>producción bibliográfica</a:t>
            </a:r>
            <a:endParaRPr lang="es-CO" sz="2800" b="1" noProof="0" dirty="0">
              <a:latin typeface="Arial" panose="020B0604020202020204" pitchFamily="34" charset="0"/>
              <a:cs typeface="Arial" panose="020B0604020202020204" pitchFamily="34" charset="0"/>
            </a:endParaRPr>
          </a:p>
        </p:txBody>
      </p:sp>
      <p:sp>
        <p:nvSpPr>
          <p:cNvPr id="68" name="TextBox 67"/>
          <p:cNvSpPr txBox="1"/>
          <p:nvPr/>
        </p:nvSpPr>
        <p:spPr>
          <a:xfrm>
            <a:off x="2736398" y="29970391"/>
            <a:ext cx="11913673" cy="954107"/>
          </a:xfrm>
          <a:prstGeom prst="rect">
            <a:avLst/>
          </a:prstGeom>
          <a:noFill/>
        </p:spPr>
        <p:txBody>
          <a:bodyPr wrap="square">
            <a:spAutoFit/>
          </a:bodyPr>
          <a:lstStyle/>
          <a:p>
            <a:pPr algn="ctr"/>
            <a:r>
              <a:rPr lang="es-CO" sz="2800" b="1" dirty="0">
                <a:latin typeface="Arial" panose="020B0604020202020204" pitchFamily="34" charset="0"/>
                <a:cs typeface="Arial" panose="020B0604020202020204" pitchFamily="34" charset="0"/>
              </a:rPr>
              <a:t>Fig 3</a:t>
            </a:r>
            <a:r>
              <a:rPr lang="es-CO" sz="2800" b="1" noProof="0" dirty="0">
                <a:latin typeface="Arial" panose="020B0604020202020204" pitchFamily="34" charset="0"/>
                <a:cs typeface="Arial" panose="020B0604020202020204" pitchFamily="34" charset="0"/>
              </a:rPr>
              <a:t>: </a:t>
            </a:r>
            <a:r>
              <a:rPr lang="es-MX" sz="2800" b="1" dirty="0">
                <a:latin typeface="Arial" panose="020B0604020202020204" pitchFamily="34" charset="0"/>
                <a:cs typeface="Arial" panose="020B0604020202020204" pitchFamily="34" charset="0"/>
              </a:rPr>
              <a:t>Distribución de documentos por país de origen y colaboración entre países</a:t>
            </a:r>
            <a:r>
              <a:rPr lang="es-CO" sz="2800" b="1" noProof="0" dirty="0">
                <a:latin typeface="Arial" panose="020B0604020202020204" pitchFamily="34" charset="0"/>
                <a:cs typeface="Arial" panose="020B0604020202020204" pitchFamily="34" charset="0"/>
              </a:rPr>
              <a:t>.</a:t>
            </a:r>
          </a:p>
        </p:txBody>
      </p:sp>
      <p:sp>
        <p:nvSpPr>
          <p:cNvPr id="72" name="TextBox 71"/>
          <p:cNvSpPr txBox="1"/>
          <p:nvPr/>
        </p:nvSpPr>
        <p:spPr>
          <a:xfrm>
            <a:off x="15996414" y="32801591"/>
            <a:ext cx="13931154" cy="3539430"/>
          </a:xfrm>
          <a:prstGeom prst="rect">
            <a:avLst/>
          </a:prstGeom>
          <a:noFill/>
        </p:spPr>
        <p:txBody>
          <a:bodyPr wrap="square">
            <a:spAutoFit/>
          </a:bodyPr>
          <a:lstStyle/>
          <a:p>
            <a:r>
              <a:rPr lang="es-MX" sz="3200" dirty="0"/>
              <a:t>La ciberseguridad actual constituye un desafío socio-técnico donde la vulnerabilidad humana, impulsada por el bajo autocontrol y el procesamiento intuitivo, es explotada por la IA generativa mediante phishing lateral, </a:t>
            </a:r>
            <a:r>
              <a:rPr lang="es-MX" sz="3200" dirty="0" err="1"/>
              <a:t>smishing</a:t>
            </a:r>
            <a:r>
              <a:rPr lang="es-MX" sz="3200" dirty="0"/>
              <a:t>, </a:t>
            </a:r>
            <a:r>
              <a:rPr lang="es-MX" sz="3200" dirty="0" err="1"/>
              <a:t>quishing</a:t>
            </a:r>
            <a:r>
              <a:rPr lang="es-MX" sz="3200" dirty="0"/>
              <a:t> y </a:t>
            </a:r>
            <a:r>
              <a:rPr lang="es-MX" sz="3200" dirty="0" err="1"/>
              <a:t>deepfakes</a:t>
            </a:r>
            <a:r>
              <a:rPr lang="es-MX" sz="3200" dirty="0"/>
              <a:t>. Su mitigación exige defensas dinámicas multicapa con IA explicable (XAI), monitoreo en tiempo real y arquitectura Zero Trust. Por último, la resiliencia integral demanda una alfabetización digital experiencial y ramificada que fortalezca la verificación activa y el autocontrol del usuario</a:t>
            </a:r>
          </a:p>
        </p:txBody>
      </p:sp>
      <p:sp>
        <p:nvSpPr>
          <p:cNvPr id="74" name="TextBox 73"/>
          <p:cNvSpPr txBox="1"/>
          <p:nvPr/>
        </p:nvSpPr>
        <p:spPr>
          <a:xfrm>
            <a:off x="15786637" y="38090909"/>
            <a:ext cx="10976061" cy="3077766"/>
          </a:xfrm>
          <a:prstGeom prst="rect">
            <a:avLst/>
          </a:prstGeom>
          <a:noFill/>
        </p:spPr>
        <p:txBody>
          <a:bodyPr wrap="square">
            <a:spAutoFit/>
          </a:bodyPr>
          <a:lstStyle/>
          <a:p>
            <a:pPr algn="just">
              <a:buFont typeface="+mj-lt"/>
              <a:buAutoNum type="arabicPeriod"/>
            </a:pPr>
            <a:r>
              <a:rPr lang="es-CO" sz="2800" dirty="0"/>
              <a:t>Chauhan, J., &amp; Gupta, A. (2023). </a:t>
            </a:r>
            <a:r>
              <a:rPr lang="es-CO" sz="2800" i="1" dirty="0"/>
              <a:t>Security and </a:t>
            </a:r>
            <a:r>
              <a:rPr lang="es-CO" sz="2800" i="1" dirty="0" err="1"/>
              <a:t>privacy</a:t>
            </a:r>
            <a:r>
              <a:rPr lang="es-CO" sz="2800" i="1" dirty="0"/>
              <a:t> </a:t>
            </a:r>
            <a:r>
              <a:rPr lang="es-CO" sz="2800" i="1" dirty="0" err="1"/>
              <a:t>issues</a:t>
            </a:r>
            <a:r>
              <a:rPr lang="es-CO" sz="2800" i="1" dirty="0"/>
              <a:t> in </a:t>
            </a:r>
            <a:r>
              <a:rPr lang="es-CO" sz="2800" i="1" dirty="0" err="1"/>
              <a:t>IoT</a:t>
            </a:r>
            <a:r>
              <a:rPr lang="es-CO" sz="2800" i="1" dirty="0"/>
              <a:t> and Edge/Fog </a:t>
            </a:r>
            <a:r>
              <a:rPr lang="es-CO" sz="2800" i="1" dirty="0" err="1"/>
              <a:t>computing</a:t>
            </a:r>
            <a:r>
              <a:rPr lang="es-CO" sz="2800" i="1" dirty="0"/>
              <a:t>: A comprehensive </a:t>
            </a:r>
            <a:r>
              <a:rPr lang="es-CO" sz="2800" i="1" dirty="0" err="1"/>
              <a:t>survey</a:t>
            </a:r>
            <a:r>
              <a:rPr lang="es-CO" sz="2800" dirty="0"/>
              <a:t>. IEEE Access, 11, 45120-45135.</a:t>
            </a:r>
            <a:r>
              <a:rPr lang="es-CO" sz="2600" b="0" i="0" noProof="0" dirty="0">
                <a:solidFill>
                  <a:srgbClr val="1E2442"/>
                </a:solidFill>
                <a:effectLst/>
                <a:cs typeface="+mn-lt"/>
              </a:rPr>
              <a:t>Chen, B., Kumar, S., &amp; </a:t>
            </a:r>
            <a:r>
              <a:rPr lang="es-CO" sz="2600" b="0" i="0" noProof="0" dirty="0" err="1">
                <a:solidFill>
                  <a:srgbClr val="1E2442"/>
                </a:solidFill>
                <a:effectLst/>
                <a:cs typeface="+mn-lt"/>
              </a:rPr>
              <a:t>Lopez</a:t>
            </a:r>
            <a:r>
              <a:rPr lang="es-CO" sz="2600" b="0" i="0" noProof="0" dirty="0">
                <a:solidFill>
                  <a:srgbClr val="1E2442"/>
                </a:solidFill>
                <a:effectLst/>
                <a:cs typeface="+mn-lt"/>
              </a:rPr>
              <a:t>, A. (2019). </a:t>
            </a:r>
            <a:r>
              <a:rPr lang="es-CO" sz="2600" b="0" i="1" noProof="0" dirty="0" err="1">
                <a:solidFill>
                  <a:srgbClr val="1E2442"/>
                </a:solidFill>
                <a:effectLst/>
                <a:cs typeface="+mn-lt"/>
              </a:rPr>
              <a:t>Harnessing</a:t>
            </a:r>
            <a:r>
              <a:rPr lang="es-CO" sz="2600" b="0" i="1" noProof="0" dirty="0">
                <a:solidFill>
                  <a:srgbClr val="1E2442"/>
                </a:solidFill>
                <a:effectLst/>
                <a:cs typeface="+mn-lt"/>
              </a:rPr>
              <a:t> </a:t>
            </a:r>
            <a:r>
              <a:rPr lang="es-CO" sz="2600" b="0" i="1" noProof="0" dirty="0" err="1">
                <a:solidFill>
                  <a:srgbClr val="1E2442"/>
                </a:solidFill>
                <a:effectLst/>
                <a:cs typeface="+mn-lt"/>
              </a:rPr>
              <a:t>wind</a:t>
            </a:r>
            <a:r>
              <a:rPr lang="es-CO" sz="2600" b="0" i="1" noProof="0" dirty="0">
                <a:solidFill>
                  <a:srgbClr val="1E2442"/>
                </a:solidFill>
                <a:effectLst/>
                <a:cs typeface="+mn-lt"/>
              </a:rPr>
              <a:t> </a:t>
            </a:r>
            <a:r>
              <a:rPr lang="es-CO" sz="2600" b="0" i="1" noProof="0" dirty="0" err="1">
                <a:solidFill>
                  <a:srgbClr val="1E2442"/>
                </a:solidFill>
                <a:effectLst/>
                <a:cs typeface="+mn-lt"/>
              </a:rPr>
              <a:t>power</a:t>
            </a:r>
            <a:r>
              <a:rPr lang="es-CO" sz="2600" b="0" i="1" noProof="0" dirty="0">
                <a:solidFill>
                  <a:srgbClr val="1E2442"/>
                </a:solidFill>
                <a:effectLst/>
                <a:cs typeface="+mn-lt"/>
              </a:rPr>
              <a:t>: </a:t>
            </a:r>
            <a:r>
              <a:rPr lang="es-CO" sz="2600" b="0" i="1" noProof="0" dirty="0" err="1">
                <a:solidFill>
                  <a:srgbClr val="1E2442"/>
                </a:solidFill>
                <a:effectLst/>
                <a:cs typeface="+mn-lt"/>
              </a:rPr>
              <a:t>Innovations</a:t>
            </a:r>
            <a:r>
              <a:rPr lang="es-CO" sz="2600" b="0" i="1" noProof="0" dirty="0">
                <a:solidFill>
                  <a:srgbClr val="1E2442"/>
                </a:solidFill>
                <a:effectLst/>
                <a:cs typeface="+mn-lt"/>
              </a:rPr>
              <a:t> in turbine </a:t>
            </a:r>
            <a:r>
              <a:rPr lang="es-CO" sz="2600" b="0" i="1" noProof="0" dirty="0" err="1">
                <a:solidFill>
                  <a:srgbClr val="1E2442"/>
                </a:solidFill>
                <a:effectLst/>
                <a:cs typeface="+mn-lt"/>
              </a:rPr>
              <a:t>technology</a:t>
            </a:r>
            <a:r>
              <a:rPr lang="es-CO" sz="2600" b="0" i="0" noProof="0" dirty="0">
                <a:solidFill>
                  <a:srgbClr val="1E2442"/>
                </a:solidFill>
                <a:effectLst/>
                <a:cs typeface="+mn-lt"/>
              </a:rPr>
              <a:t>. Energy </a:t>
            </a:r>
            <a:r>
              <a:rPr lang="es-CO" sz="2600" b="0" i="0" noProof="0" dirty="0" err="1">
                <a:solidFill>
                  <a:srgbClr val="1E2442"/>
                </a:solidFill>
                <a:effectLst/>
                <a:cs typeface="+mn-lt"/>
              </a:rPr>
              <a:t>Innovations</a:t>
            </a:r>
            <a:r>
              <a:rPr lang="es-CO" sz="2600" b="0" i="0" noProof="0" dirty="0">
                <a:solidFill>
                  <a:srgbClr val="1E2442"/>
                </a:solidFill>
                <a:effectLst/>
                <a:cs typeface="+mn-lt"/>
              </a:rPr>
              <a:t>, 33(2), 201-215.</a:t>
            </a:r>
          </a:p>
          <a:p>
            <a:pPr algn="just">
              <a:buFont typeface="+mj-lt"/>
              <a:buAutoNum type="arabicPeriod"/>
            </a:pPr>
            <a:r>
              <a:rPr lang="es-CO" sz="2800" dirty="0"/>
              <a:t>Mayuri, A. V. R., &amp; Sharma, P. (2025). </a:t>
            </a:r>
            <a:r>
              <a:rPr lang="es-CO" sz="2800" i="1" dirty="0"/>
              <a:t>Edge and Fog </a:t>
            </a:r>
            <a:r>
              <a:rPr lang="es-CO" sz="2800" i="1" dirty="0" err="1"/>
              <a:t>computing</a:t>
            </a:r>
            <a:r>
              <a:rPr lang="es-CO" sz="2800" i="1" dirty="0"/>
              <a:t> </a:t>
            </a:r>
            <a:r>
              <a:rPr lang="es-CO" sz="2800" i="1" dirty="0" err="1"/>
              <a:t>frameworks</a:t>
            </a:r>
            <a:r>
              <a:rPr lang="es-CO" sz="2800" i="1" dirty="0"/>
              <a:t> </a:t>
            </a:r>
            <a:r>
              <a:rPr lang="es-CO" sz="2800" i="1" dirty="0" err="1"/>
              <a:t>for</a:t>
            </a:r>
            <a:r>
              <a:rPr lang="es-CO" sz="2800" i="1" dirty="0"/>
              <a:t> </a:t>
            </a:r>
            <a:r>
              <a:rPr lang="es-CO" sz="2800" i="1" dirty="0" err="1"/>
              <a:t>latency</a:t>
            </a:r>
            <a:r>
              <a:rPr lang="es-CO" sz="2800" i="1" dirty="0"/>
              <a:t>-sensitive </a:t>
            </a:r>
            <a:r>
              <a:rPr lang="es-CO" sz="2800" i="1" dirty="0" err="1"/>
              <a:t>IoT</a:t>
            </a:r>
            <a:r>
              <a:rPr lang="es-CO" sz="2800" i="1" dirty="0"/>
              <a:t> </a:t>
            </a:r>
            <a:r>
              <a:rPr lang="es-CO" sz="2800" i="1" dirty="0" err="1"/>
              <a:t>applications</a:t>
            </a:r>
            <a:r>
              <a:rPr lang="es-CO" sz="2800" dirty="0"/>
              <a:t>. </a:t>
            </a:r>
            <a:r>
              <a:rPr lang="es-CO" sz="2800" dirty="0" err="1"/>
              <a:t>Journal</a:t>
            </a:r>
            <a:r>
              <a:rPr lang="es-CO" sz="2800" dirty="0"/>
              <a:t> </a:t>
            </a:r>
            <a:r>
              <a:rPr lang="es-CO" sz="2800" dirty="0" err="1"/>
              <a:t>of</a:t>
            </a:r>
            <a:r>
              <a:rPr lang="es-CO" sz="2800" dirty="0"/>
              <a:t> Systems </a:t>
            </a:r>
            <a:r>
              <a:rPr lang="es-CO" sz="2800" dirty="0" err="1"/>
              <a:t>Architecture</a:t>
            </a:r>
            <a:r>
              <a:rPr lang="es-CO" sz="2800" dirty="0"/>
              <a:t>, 148, 103095.</a:t>
            </a:r>
            <a:endParaRPr lang="es-CO" sz="2600" b="0" i="0" noProof="0" dirty="0">
              <a:solidFill>
                <a:srgbClr val="1E2442"/>
              </a:solidFill>
              <a:effectLst/>
              <a:cs typeface="+mn-lt"/>
            </a:endParaRPr>
          </a:p>
        </p:txBody>
      </p:sp>
      <p:sp>
        <p:nvSpPr>
          <p:cNvPr id="76" name="TextBox 75"/>
          <p:cNvSpPr txBox="1"/>
          <p:nvPr/>
        </p:nvSpPr>
        <p:spPr>
          <a:xfrm>
            <a:off x="1177078" y="32751077"/>
            <a:ext cx="14287722" cy="3046988"/>
          </a:xfrm>
          <a:prstGeom prst="rect">
            <a:avLst/>
          </a:prstGeom>
          <a:noFill/>
        </p:spPr>
        <p:txBody>
          <a:bodyPr wrap="square">
            <a:spAutoFit/>
          </a:bodyPr>
          <a:lstStyle/>
          <a:p>
            <a:r>
              <a:rPr lang="es-CO" sz="3200" dirty="0"/>
              <a:t>Los hallazgos responden a la investigación demostrando que los mayores riesgos en Cúcuta son sociotécnicos: ingeniería social con  28% de clics en ciberacoso y la impulsividad del usuario. Coincidiendo con la literatura, se confirma que la teoría no basta. La relevancia del estudio radica en adaptar la solución al contexto fronterizo, proponiendo pasar al procesamiento deliberado mediante y aprendizaje con IA, respaldados por ciberdefensa de borde</a:t>
            </a:r>
            <a:endParaRPr lang="es-CO" sz="3000" noProof="0" dirty="0">
              <a:solidFill>
                <a:schemeClr val="tx2"/>
              </a:solidFill>
            </a:endParaRPr>
          </a:p>
        </p:txBody>
      </p:sp>
      <p:sp>
        <p:nvSpPr>
          <p:cNvPr id="14" name="TextBox 13"/>
          <p:cNvSpPr txBox="1"/>
          <p:nvPr/>
        </p:nvSpPr>
        <p:spPr>
          <a:xfrm>
            <a:off x="12347800" y="15617084"/>
            <a:ext cx="16329722" cy="523220"/>
          </a:xfrm>
          <a:prstGeom prst="rect">
            <a:avLst/>
          </a:prstGeom>
          <a:noFill/>
        </p:spPr>
        <p:txBody>
          <a:bodyPr wrap="square" rtlCol="0">
            <a:spAutoFit/>
          </a:bodyPr>
          <a:lstStyle/>
          <a:p>
            <a:pPr algn="ctr"/>
            <a:r>
              <a:rPr lang="es-CO" sz="2800" b="1" noProof="0" dirty="0">
                <a:latin typeface="Arial" panose="020B0604020202020204" pitchFamily="34" charset="0"/>
                <a:cs typeface="Arial" panose="020B0604020202020204" pitchFamily="34" charset="0"/>
              </a:rPr>
              <a:t>Fig.1 Utilice este espacio para incluir una gráfica de su metodología</a:t>
            </a:r>
          </a:p>
        </p:txBody>
      </p:sp>
      <p:grpSp>
        <p:nvGrpSpPr>
          <p:cNvPr id="63" name="Group 62"/>
          <p:cNvGrpSpPr/>
          <p:nvPr/>
        </p:nvGrpSpPr>
        <p:grpSpPr>
          <a:xfrm>
            <a:off x="273420" y="4110698"/>
            <a:ext cx="1590273" cy="1590273"/>
            <a:chOff x="892384" y="6320836"/>
            <a:chExt cx="1590273" cy="1590273"/>
          </a:xfrm>
        </p:grpSpPr>
        <p:sp>
          <p:nvSpPr>
            <p:cNvPr id="56" name="Oval 55"/>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61" name="TextBox 60"/>
            <p:cNvSpPr txBox="1"/>
            <p:nvPr/>
          </p:nvSpPr>
          <p:spPr>
            <a:xfrm>
              <a:off x="1263829" y="6392697"/>
              <a:ext cx="847382" cy="1446550"/>
            </a:xfrm>
            <a:prstGeom prst="rect">
              <a:avLst/>
            </a:prstGeom>
            <a:noFill/>
          </p:spPr>
          <p:txBody>
            <a:bodyPr wrap="square" rtlCol="0">
              <a:spAutoFit/>
            </a:bodyPr>
            <a:lstStyle/>
            <a:p>
              <a:pPr algn="ctr"/>
              <a:r>
                <a:rPr lang="es-CO" sz="8800" noProof="0" dirty="0">
                  <a:solidFill>
                    <a:srgbClr val="1E2442"/>
                  </a:solidFill>
                  <a:latin typeface="Arial Black" panose="020B0A04020102020204" pitchFamily="34" charset="0"/>
                </a:rPr>
                <a:t>1</a:t>
              </a:r>
            </a:p>
          </p:txBody>
        </p:sp>
      </p:grpSp>
      <p:grpSp>
        <p:nvGrpSpPr>
          <p:cNvPr id="69" name="Group 68"/>
          <p:cNvGrpSpPr/>
          <p:nvPr/>
        </p:nvGrpSpPr>
        <p:grpSpPr>
          <a:xfrm>
            <a:off x="10415002" y="4130049"/>
            <a:ext cx="1590273" cy="1590273"/>
            <a:chOff x="892384" y="6320836"/>
            <a:chExt cx="1590273" cy="1590273"/>
          </a:xfrm>
        </p:grpSpPr>
        <p:sp>
          <p:nvSpPr>
            <p:cNvPr id="71" name="Oval 70"/>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73" name="TextBox 72"/>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2</a:t>
              </a:r>
            </a:p>
          </p:txBody>
        </p:sp>
      </p:grpSp>
      <p:sp>
        <p:nvSpPr>
          <p:cNvPr id="80" name="Rectangle: Rounded Corners 79"/>
          <p:cNvSpPr/>
          <p:nvPr/>
        </p:nvSpPr>
        <p:spPr>
          <a:xfrm>
            <a:off x="653898" y="16128209"/>
            <a:ext cx="28936090"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grpSp>
        <p:nvGrpSpPr>
          <p:cNvPr id="81" name="Group 80"/>
          <p:cNvGrpSpPr/>
          <p:nvPr/>
        </p:nvGrpSpPr>
        <p:grpSpPr>
          <a:xfrm>
            <a:off x="538663" y="15971628"/>
            <a:ext cx="1590273" cy="1590273"/>
            <a:chOff x="892384" y="6320836"/>
            <a:chExt cx="1590273" cy="1590273"/>
          </a:xfrm>
        </p:grpSpPr>
        <p:sp>
          <p:nvSpPr>
            <p:cNvPr id="83" name="Oval 82"/>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84" name="TextBox 83"/>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3</a:t>
              </a:r>
            </a:p>
          </p:txBody>
        </p:sp>
      </p:grpSp>
      <p:sp>
        <p:nvSpPr>
          <p:cNvPr id="36" name="TextBox 35"/>
          <p:cNvSpPr txBox="1"/>
          <p:nvPr/>
        </p:nvSpPr>
        <p:spPr>
          <a:xfrm>
            <a:off x="2553027" y="16267035"/>
            <a:ext cx="12670205"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Estado del arte y tendencias</a:t>
            </a:r>
          </a:p>
        </p:txBody>
      </p:sp>
      <p:grpSp>
        <p:nvGrpSpPr>
          <p:cNvPr id="85" name="Group 84"/>
          <p:cNvGrpSpPr/>
          <p:nvPr/>
        </p:nvGrpSpPr>
        <p:grpSpPr>
          <a:xfrm>
            <a:off x="678368" y="31096781"/>
            <a:ext cx="1590273" cy="1590273"/>
            <a:chOff x="892384" y="6320836"/>
            <a:chExt cx="1590273" cy="1590273"/>
          </a:xfrm>
        </p:grpSpPr>
        <p:sp>
          <p:nvSpPr>
            <p:cNvPr id="86" name="Oval 85"/>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87" name="TextBox 86"/>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4</a:t>
              </a:r>
            </a:p>
          </p:txBody>
        </p:sp>
      </p:grpSp>
      <p:sp>
        <p:nvSpPr>
          <p:cNvPr id="92" name="TextBox 91"/>
          <p:cNvSpPr txBox="1"/>
          <p:nvPr/>
        </p:nvSpPr>
        <p:spPr>
          <a:xfrm>
            <a:off x="15674108" y="29946629"/>
            <a:ext cx="13012474" cy="523220"/>
          </a:xfrm>
          <a:prstGeom prst="rect">
            <a:avLst/>
          </a:prstGeom>
          <a:noFill/>
        </p:spPr>
        <p:txBody>
          <a:bodyPr wrap="square">
            <a:spAutoFit/>
          </a:bodyPr>
          <a:lstStyle/>
          <a:p>
            <a:pPr algn="ctr"/>
            <a:r>
              <a:rPr lang="es-CO" sz="2800" b="1" noProof="0" dirty="0">
                <a:latin typeface="Arial" panose="020B0604020202020204" pitchFamily="34" charset="0"/>
                <a:cs typeface="Arial" panose="020B0604020202020204" pitchFamily="34" charset="0"/>
              </a:rPr>
              <a:t>Fig. </a:t>
            </a:r>
            <a:r>
              <a:rPr lang="es-CO" sz="2800" b="1" dirty="0">
                <a:latin typeface="Arial" panose="020B0604020202020204" pitchFamily="34" charset="0"/>
                <a:cs typeface="Arial" panose="020B0604020202020204" pitchFamily="34" charset="0"/>
              </a:rPr>
              <a:t>4</a:t>
            </a:r>
            <a:r>
              <a:rPr lang="es-CO" sz="2800" b="1" noProof="0" dirty="0">
                <a:latin typeface="Arial" panose="020B0604020202020204" pitchFamily="34" charset="0"/>
                <a:cs typeface="Arial" panose="020B0604020202020204" pitchFamily="34" charset="0"/>
              </a:rPr>
              <a:t>: </a:t>
            </a:r>
            <a:r>
              <a:rPr lang="es-MX" sz="2800" b="1" dirty="0">
                <a:latin typeface="Arial" panose="020B0604020202020204" pitchFamily="34" charset="0"/>
                <a:cs typeface="Arial" panose="020B0604020202020204" pitchFamily="34" charset="0"/>
              </a:rPr>
              <a:t>Métricas generales del estado del arte (2021–2026)</a:t>
            </a:r>
            <a:endParaRPr lang="es-CO" sz="2800" b="1" noProof="0" dirty="0">
              <a:latin typeface="Arial" panose="020B0604020202020204" pitchFamily="34" charset="0"/>
              <a:cs typeface="Arial" panose="020B0604020202020204" pitchFamily="34" charset="0"/>
            </a:endParaRPr>
          </a:p>
        </p:txBody>
      </p:sp>
      <p:sp>
        <p:nvSpPr>
          <p:cNvPr id="96" name="Rectangle: Rounded Corners 95"/>
          <p:cNvSpPr/>
          <p:nvPr/>
        </p:nvSpPr>
        <p:spPr>
          <a:xfrm>
            <a:off x="15603243" y="31219780"/>
            <a:ext cx="13931154"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45" name="TextBox 44"/>
          <p:cNvSpPr txBox="1"/>
          <p:nvPr/>
        </p:nvSpPr>
        <p:spPr>
          <a:xfrm>
            <a:off x="17350784" y="31399718"/>
            <a:ext cx="9698010"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Conclusiones</a:t>
            </a:r>
          </a:p>
        </p:txBody>
      </p:sp>
      <p:grpSp>
        <p:nvGrpSpPr>
          <p:cNvPr id="97" name="Group 96"/>
          <p:cNvGrpSpPr/>
          <p:nvPr/>
        </p:nvGrpSpPr>
        <p:grpSpPr>
          <a:xfrm>
            <a:off x="15603243" y="31002478"/>
            <a:ext cx="1590273" cy="1590273"/>
            <a:chOff x="892384" y="6320836"/>
            <a:chExt cx="1590273" cy="1590273"/>
          </a:xfrm>
        </p:grpSpPr>
        <p:sp>
          <p:nvSpPr>
            <p:cNvPr id="98" name="Oval 97"/>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99" name="TextBox 98"/>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5</a:t>
              </a:r>
            </a:p>
          </p:txBody>
        </p:sp>
      </p:grpSp>
      <p:sp>
        <p:nvSpPr>
          <p:cNvPr id="116" name="TextBox 115"/>
          <p:cNvSpPr txBox="1"/>
          <p:nvPr/>
        </p:nvSpPr>
        <p:spPr>
          <a:xfrm>
            <a:off x="1177078" y="36233704"/>
            <a:ext cx="13603220" cy="4031873"/>
          </a:xfrm>
          <a:prstGeom prst="rect">
            <a:avLst/>
          </a:prstGeom>
          <a:noFill/>
        </p:spPr>
        <p:txBody>
          <a:bodyPr wrap="square" rtlCol="0">
            <a:spAutoFit/>
          </a:bodyPr>
          <a:lstStyle/>
          <a:p>
            <a:pPr lvl="0"/>
            <a:r>
              <a:rPr lang="es-CO" sz="3200" b="1" dirty="0"/>
              <a:t>Limitaciones:</a:t>
            </a:r>
            <a:r>
              <a:rPr lang="es-CO" sz="3200" dirty="0"/>
              <a:t> Falta de datos empíricos locales recopilados directamente en colegios de Cúcuta, basándose en la extrapolación de la literatura.</a:t>
            </a:r>
          </a:p>
          <a:p>
            <a:pPr lvl="0"/>
            <a:r>
              <a:rPr lang="es-CO" sz="3200" b="1" dirty="0"/>
              <a:t>Líneas futuras:</a:t>
            </a:r>
            <a:r>
              <a:rPr lang="es-CO" sz="3200" dirty="0"/>
              <a:t> Probar las plataformas adaptativas de IA en aulas locales, estudiar las brechas de género en autoprotección y medir en redes 5G/6G regionales.</a:t>
            </a:r>
          </a:p>
          <a:p>
            <a:pPr lvl="0"/>
            <a:r>
              <a:rPr lang="es-CO" sz="3200" b="1" dirty="0"/>
              <a:t>Llamado a la acción:</a:t>
            </a:r>
            <a:r>
              <a:rPr lang="es-CO" sz="3200" dirty="0"/>
              <a:t> Urge que la Alcaldía, la Gobernación y las universidades creen el </a:t>
            </a:r>
            <a:r>
              <a:rPr lang="es-CO" sz="3200" i="1" dirty="0"/>
              <a:t>Centro Municipal de Ciber-Resiliencia Juvenil (CMCRJ)</a:t>
            </a:r>
            <a:r>
              <a:rPr lang="es-CO" sz="3200" dirty="0"/>
              <a:t> para pasar de la reacción a la </a:t>
            </a:r>
          </a:p>
        </p:txBody>
      </p:sp>
      <p:grpSp>
        <p:nvGrpSpPr>
          <p:cNvPr id="118" name="Group 117"/>
          <p:cNvGrpSpPr/>
          <p:nvPr/>
        </p:nvGrpSpPr>
        <p:grpSpPr>
          <a:xfrm>
            <a:off x="15714804" y="36444617"/>
            <a:ext cx="1590273" cy="1590273"/>
            <a:chOff x="892384" y="6320836"/>
            <a:chExt cx="1590273" cy="1590273"/>
          </a:xfrm>
        </p:grpSpPr>
        <p:sp>
          <p:nvSpPr>
            <p:cNvPr id="119" name="Oval 118"/>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20" name="TextBox 119"/>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6</a:t>
              </a:r>
            </a:p>
          </p:txBody>
        </p:sp>
      </p:grpSp>
      <p:grpSp>
        <p:nvGrpSpPr>
          <p:cNvPr id="5" name="Grupo 4"/>
          <p:cNvGrpSpPr/>
          <p:nvPr/>
        </p:nvGrpSpPr>
        <p:grpSpPr>
          <a:xfrm>
            <a:off x="20917202" y="235582"/>
            <a:ext cx="9010366" cy="3330461"/>
            <a:chOff x="16762073" y="927071"/>
            <a:chExt cx="10059252" cy="3473416"/>
          </a:xfrm>
        </p:grpSpPr>
        <p:sp>
          <p:nvSpPr>
            <p:cNvPr id="2" name="Rectángulo: esquinas redondeadas 1"/>
            <p:cNvSpPr/>
            <p:nvPr/>
          </p:nvSpPr>
          <p:spPr>
            <a:xfrm>
              <a:off x="17350784" y="927071"/>
              <a:ext cx="9214942" cy="347341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9" name="Picture 8"/>
            <p:cNvPicPr>
              <a:picLocks noChangeAspect="1"/>
            </p:cNvPicPr>
            <p:nvPr/>
          </p:nvPicPr>
          <p:blipFill>
            <a:blip r:embed="rId2">
              <a:extLst>
                <a:ext uri="{96DAC541-7B7A-43D3-8B79-37D633B846F1}">
                  <asvg:svgBlip xmlns:asvg="http://schemas.microsoft.com/office/drawing/2016/SVG/main" r:embed="rId3"/>
                </a:ext>
              </a:extLst>
            </a:blip>
            <a:srcRect/>
            <a:stretch>
              <a:fillRect/>
            </a:stretch>
          </p:blipFill>
          <p:spPr>
            <a:xfrm>
              <a:off x="16762073" y="1082668"/>
              <a:ext cx="10059252" cy="3162222"/>
            </a:xfrm>
            <a:prstGeom prst="rect">
              <a:avLst/>
            </a:prstGeom>
          </p:spPr>
        </p:pic>
      </p:grpSp>
      <p:grpSp>
        <p:nvGrpSpPr>
          <p:cNvPr id="34" name="Grupo 33"/>
          <p:cNvGrpSpPr/>
          <p:nvPr/>
        </p:nvGrpSpPr>
        <p:grpSpPr>
          <a:xfrm>
            <a:off x="3926031" y="41124303"/>
            <a:ext cx="22119814" cy="1679460"/>
            <a:chOff x="3802703" y="40660493"/>
            <a:chExt cx="22119814" cy="1882135"/>
          </a:xfrm>
        </p:grpSpPr>
        <p:pic>
          <p:nvPicPr>
            <p:cNvPr id="29" name="Gráfico 2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02703" y="40660493"/>
              <a:ext cx="9864203" cy="1882135"/>
            </a:xfrm>
            <a:prstGeom prst="rect">
              <a:avLst/>
            </a:prstGeom>
          </p:spPr>
        </p:pic>
        <p:pic>
          <p:nvPicPr>
            <p:cNvPr id="28" name="Gráfico 2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980149" y="40692938"/>
              <a:ext cx="3942368" cy="1817244"/>
            </a:xfrm>
            <a:prstGeom prst="rect">
              <a:avLst/>
            </a:prstGeom>
          </p:spPr>
        </p:pic>
        <p:pic>
          <p:nvPicPr>
            <p:cNvPr id="33" name="Gráfico 3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484048" y="40747650"/>
              <a:ext cx="4678959" cy="1707820"/>
            </a:xfrm>
            <a:prstGeom prst="rect">
              <a:avLst/>
            </a:prstGeom>
          </p:spPr>
        </p:pic>
      </p:grpSp>
      <p:pic>
        <p:nvPicPr>
          <p:cNvPr id="1028" name="Picture 4" descr="QR Code Image">
            <a:extLst>
              <a:ext uri="{FF2B5EF4-FFF2-40B4-BE49-F238E27FC236}">
                <a16:creationId xmlns:a16="http://schemas.microsoft.com/office/drawing/2014/main" id="{C2062750-113F-4CE8-93E1-574F1E3CDB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238049" y="37050852"/>
            <a:ext cx="2102616" cy="2102616"/>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n 21">
            <a:extLst>
              <a:ext uri="{FF2B5EF4-FFF2-40B4-BE49-F238E27FC236}">
                <a16:creationId xmlns:a16="http://schemas.microsoft.com/office/drawing/2014/main" id="{9D51E358-E948-3889-81AA-852897994DEC}"/>
              </a:ext>
            </a:extLst>
          </p:cNvPr>
          <p:cNvPicPr>
            <a:picLocks noChangeAspect="1"/>
          </p:cNvPicPr>
          <p:nvPr/>
        </p:nvPicPr>
        <p:blipFill>
          <a:blip r:embed="rId11">
            <a:clrChange>
              <a:clrFrom>
                <a:srgbClr val="EAEAEA"/>
              </a:clrFrom>
              <a:clrTo>
                <a:srgbClr val="EAEAEA">
                  <a:alpha val="0"/>
                </a:srgbClr>
              </a:clrTo>
            </a:clrChange>
            <a:extLst>
              <a:ext uri="{28A0092B-C50C-407E-A947-70E740481C1C}">
                <a14:useLocalDpi xmlns:a14="http://schemas.microsoft.com/office/drawing/2010/main" val="0"/>
              </a:ext>
            </a:extLst>
          </a:blip>
          <a:stretch>
            <a:fillRect/>
          </a:stretch>
        </p:blipFill>
        <p:spPr>
          <a:xfrm>
            <a:off x="1152518" y="23958575"/>
            <a:ext cx="15081432" cy="5759221"/>
          </a:xfrm>
          <a:prstGeom prst="rect">
            <a:avLst/>
          </a:prstGeom>
        </p:spPr>
      </p:pic>
      <p:pic>
        <p:nvPicPr>
          <p:cNvPr id="27" name="Imagen 26">
            <a:extLst>
              <a:ext uri="{FF2B5EF4-FFF2-40B4-BE49-F238E27FC236}">
                <a16:creationId xmlns:a16="http://schemas.microsoft.com/office/drawing/2014/main" id="{9A78D5E6-8976-96C0-15F0-F3550BD6545E}"/>
              </a:ext>
            </a:extLst>
          </p:cNvPr>
          <p:cNvPicPr>
            <a:picLocks noChangeAspect="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t="8719"/>
          <a:stretch/>
        </p:blipFill>
        <p:spPr>
          <a:xfrm>
            <a:off x="12280432" y="5792182"/>
            <a:ext cx="16464458" cy="9774273"/>
          </a:xfrm>
          <a:prstGeom prst="rect">
            <a:avLst/>
          </a:prstGeom>
        </p:spPr>
      </p:pic>
      <p:sp>
        <p:nvSpPr>
          <p:cNvPr id="42" name="CuadroTexto 41">
            <a:extLst>
              <a:ext uri="{FF2B5EF4-FFF2-40B4-BE49-F238E27FC236}">
                <a16:creationId xmlns:a16="http://schemas.microsoft.com/office/drawing/2014/main" id="{1144AA3F-C308-6259-E9E5-9636807490AC}"/>
              </a:ext>
            </a:extLst>
          </p:cNvPr>
          <p:cNvSpPr txBox="1"/>
          <p:nvPr/>
        </p:nvSpPr>
        <p:spPr>
          <a:xfrm>
            <a:off x="1373886" y="17786555"/>
            <a:ext cx="9412561" cy="5016758"/>
          </a:xfrm>
          <a:prstGeom prst="rect">
            <a:avLst/>
          </a:prstGeom>
          <a:noFill/>
        </p:spPr>
        <p:txBody>
          <a:bodyPr wrap="square" rtlCol="0">
            <a:spAutoFit/>
          </a:bodyPr>
          <a:lstStyle/>
          <a:p>
            <a:r>
              <a:rPr lang="es-CO" sz="3200" dirty="0"/>
              <a:t>En esta investigación analizamos cómo los problemas de ciberseguridad combinan el factor humano y la tecnología. Notamos que el bajo autocontrol y la alta exposición aumentan la vulnerabilidad de los usuarios. Aunque la IA ayuda a detectar bots (93%) y amenazas en red (94.4%), también la usan para el mal: los correos de phishing creados por IA superan en clics a los humanos (28% vs. 21%). Concluimos que, pese a los avances, la ciberdefensa aún enfrenta fallas de escalabilidad</a:t>
            </a:r>
          </a:p>
        </p:txBody>
      </p:sp>
      <p:pic>
        <p:nvPicPr>
          <p:cNvPr id="44" name="Imagen 43">
            <a:extLst>
              <a:ext uri="{FF2B5EF4-FFF2-40B4-BE49-F238E27FC236}">
                <a16:creationId xmlns:a16="http://schemas.microsoft.com/office/drawing/2014/main" id="{5A15DEE9-5CF1-39CD-03D8-9A4FE648D853}"/>
              </a:ext>
            </a:extLst>
          </p:cNvPr>
          <p:cNvPicPr>
            <a:picLocks noChangeAspect="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t="16695" r="25851" b="16202"/>
          <a:stretch>
            <a:fillRect/>
          </a:stretch>
        </p:blipFill>
        <p:spPr>
          <a:xfrm>
            <a:off x="14789002" y="17483190"/>
            <a:ext cx="14782687" cy="5959794"/>
          </a:xfrm>
          <a:prstGeom prst="rect">
            <a:avLst/>
          </a:prstGeom>
        </p:spPr>
      </p:pic>
      <p:sp>
        <p:nvSpPr>
          <p:cNvPr id="3" name="CuadroTexto 2">
            <a:extLst>
              <a:ext uri="{FF2B5EF4-FFF2-40B4-BE49-F238E27FC236}">
                <a16:creationId xmlns:a16="http://schemas.microsoft.com/office/drawing/2014/main" id="{A784A184-AD04-472C-99E1-1552B79DB761}"/>
              </a:ext>
            </a:extLst>
          </p:cNvPr>
          <p:cNvSpPr txBox="1"/>
          <p:nvPr/>
        </p:nvSpPr>
        <p:spPr>
          <a:xfrm>
            <a:off x="27107382" y="39234525"/>
            <a:ext cx="2315431" cy="2062103"/>
          </a:xfrm>
          <a:prstGeom prst="rect">
            <a:avLst/>
          </a:prstGeom>
          <a:noFill/>
        </p:spPr>
        <p:txBody>
          <a:bodyPr wrap="square" rtlCol="0">
            <a:spAutoFit/>
          </a:bodyPr>
          <a:lstStyle/>
          <a:p>
            <a:pPr algn="ctr"/>
            <a:r>
              <a:rPr lang="es-ES" sz="3200" b="1" dirty="0">
                <a:solidFill>
                  <a:schemeClr val="bg1"/>
                </a:solidFill>
              </a:rPr>
              <a:t>Escanee el código QR con su celular</a:t>
            </a:r>
            <a:endParaRPr lang="es-CO" sz="3200" b="1" dirty="0">
              <a:solidFill>
                <a:schemeClr val="bg1"/>
              </a:solidFill>
            </a:endParaRPr>
          </a:p>
        </p:txBody>
      </p:sp>
      <p:pic>
        <p:nvPicPr>
          <p:cNvPr id="67" name="Imagen 66">
            <a:extLst>
              <a:ext uri="{FF2B5EF4-FFF2-40B4-BE49-F238E27FC236}">
                <a16:creationId xmlns:a16="http://schemas.microsoft.com/office/drawing/2014/main" id="{1D729B73-C856-4E00-B769-69DA55F66F3E}"/>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15668662" y="23885497"/>
            <a:ext cx="13539178" cy="5615875"/>
          </a:xfrm>
          <a:prstGeom prst="rect">
            <a:avLst/>
          </a:prstGeom>
        </p:spPr>
      </p:pic>
    </p:spTree>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487</TotalTime>
  <Words>648</Words>
  <Application>Microsoft Office PowerPoint</Application>
  <PresentationFormat>Personalizado</PresentationFormat>
  <Paragraphs>33</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Arial Black</vt:lpstr>
      <vt:lpstr>Calibri</vt:lpstr>
      <vt:lpstr>Calibri Light</vt:lpstr>
      <vt:lpstr>Office Theme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Femke Cappon</dc:creator>
  <cp:lastModifiedBy>yosman useche</cp:lastModifiedBy>
  <cp:revision>36</cp:revision>
  <dcterms:created xsi:type="dcterms:W3CDTF">2026-08-31T16:06:25Z</dcterms:created>
  <dcterms:modified xsi:type="dcterms:W3CDTF">2026-09-16T22:00:11Z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1033-11.1.0.11733</vt:lpwstr>
  </property>
</Properties>
</file>